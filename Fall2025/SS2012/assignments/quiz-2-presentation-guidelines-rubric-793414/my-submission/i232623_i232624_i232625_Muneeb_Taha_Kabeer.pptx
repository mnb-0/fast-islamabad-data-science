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Lst>
  <p:sldSz cy="8229600" cx="14630400"/>
  <p:notesSz cx="8229600" cy="14630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2C2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403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E2C2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403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E2C2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403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E2C2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403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E2C2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403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pic>
        <p:nvPicPr>
          <p:cNvPr descr="preencoded.png" id="36" name="Google Shape;36;p8"/>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37" name="Google Shape;37;p8"/>
          <p:cNvSpPr/>
          <p:nvPr/>
        </p:nvSpPr>
        <p:spPr>
          <a:xfrm>
            <a:off x="793790" y="2691527"/>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8F5"/>
              </a:buClr>
              <a:buSzPts val="4450"/>
              <a:buFont typeface="Arial"/>
              <a:buNone/>
            </a:pPr>
            <a:r>
              <a:rPr b="1" i="0" lang="en-US" sz="4450" u="none" cap="none" strike="noStrike">
                <a:solidFill>
                  <a:srgbClr val="FFF8F5"/>
                </a:solidFill>
                <a:latin typeface="Arial"/>
                <a:ea typeface="Arial"/>
                <a:cs typeface="Arial"/>
                <a:sym typeface="Arial"/>
              </a:rPr>
              <a:t>Junk Science: Strict Gender Roles are Natural</a:t>
            </a:r>
            <a:endParaRPr b="0" i="0" sz="4450" u="none" cap="none" strike="noStrike"/>
          </a:p>
        </p:txBody>
      </p:sp>
      <p:sp>
        <p:nvSpPr>
          <p:cNvPr id="38" name="Google Shape;38;p8"/>
          <p:cNvSpPr/>
          <p:nvPr/>
        </p:nvSpPr>
        <p:spPr>
          <a:xfrm>
            <a:off x="793790" y="4449247"/>
            <a:ext cx="75564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3C9C5"/>
              </a:buClr>
              <a:buSzPts val="1750"/>
              <a:buFont typeface="Arial"/>
              <a:buNone/>
            </a:pPr>
            <a:r>
              <a:rPr b="0" i="0" lang="en-US" sz="1750" u="none" cap="none" strike="noStrike">
                <a:solidFill>
                  <a:srgbClr val="D3C9C5"/>
                </a:solidFill>
                <a:latin typeface="Arial"/>
                <a:ea typeface="Arial"/>
                <a:cs typeface="Arial"/>
                <a:sym typeface="Arial"/>
              </a:rPr>
              <a:t>This report examines the claim that strict gender roles are biologically determined, often presented as scientific truths but relying on selective evidence and outdated anthropology.</a:t>
            </a:r>
            <a:endParaRPr b="0"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pic>
        <p:nvPicPr>
          <p:cNvPr descr="preencoded.png" id="44" name="Google Shape;44;p9"/>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45" name="Google Shape;45;p9"/>
          <p:cNvSpPr/>
          <p:nvPr/>
        </p:nvSpPr>
        <p:spPr>
          <a:xfrm>
            <a:off x="6280190" y="1829633"/>
            <a:ext cx="7157561"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8F5"/>
              </a:buClr>
              <a:buSzPts val="4450"/>
              <a:buFont typeface="Arial"/>
              <a:buNone/>
            </a:pPr>
            <a:r>
              <a:rPr b="1" i="0" lang="en-US" sz="4450" u="none" cap="none" strike="noStrike">
                <a:solidFill>
                  <a:srgbClr val="FFF8F5"/>
                </a:solidFill>
                <a:latin typeface="Arial"/>
                <a:ea typeface="Arial"/>
                <a:cs typeface="Arial"/>
                <a:sym typeface="Arial"/>
              </a:rPr>
              <a:t>Background of the Claim</a:t>
            </a:r>
            <a:endParaRPr b="0" i="0" sz="4450" u="none" cap="none" strike="noStrike"/>
          </a:p>
        </p:txBody>
      </p:sp>
      <p:sp>
        <p:nvSpPr>
          <p:cNvPr id="46" name="Google Shape;46;p9"/>
          <p:cNvSpPr/>
          <p:nvPr/>
        </p:nvSpPr>
        <p:spPr>
          <a:xfrm>
            <a:off x="6280190" y="2878574"/>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3C9C5"/>
              </a:buClr>
              <a:buSzPts val="1750"/>
              <a:buFont typeface="Arial"/>
              <a:buNone/>
            </a:pPr>
            <a:r>
              <a:rPr b="0" i="0" lang="en-US" sz="1750" u="none" cap="none" strike="noStrike">
                <a:solidFill>
                  <a:srgbClr val="D3C9C5"/>
                </a:solidFill>
                <a:latin typeface="Arial"/>
                <a:ea typeface="Arial"/>
                <a:cs typeface="Arial"/>
                <a:sym typeface="Arial"/>
              </a:rPr>
              <a:t>Claims of "natural gender roles" have persisted for centuries, portraying men as competitive and dominant, and women as nurturing and passive. This narrative was reinforced by the "man the hunter" model in historical anthropology and speculative evolutionary psychology.</a:t>
            </a:r>
            <a:endParaRPr b="0" i="0" sz="1750" u="none" cap="none" strike="noStrike"/>
          </a:p>
        </p:txBody>
      </p:sp>
      <p:sp>
        <p:nvSpPr>
          <p:cNvPr id="47" name="Google Shape;47;p9"/>
          <p:cNvSpPr/>
          <p:nvPr/>
        </p:nvSpPr>
        <p:spPr>
          <a:xfrm>
            <a:off x="6280190" y="4948238"/>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3C9C5"/>
              </a:buClr>
              <a:buSzPts val="1750"/>
              <a:buFont typeface="Arial"/>
              <a:buNone/>
            </a:pPr>
            <a:r>
              <a:rPr b="0" i="0" lang="en-US" sz="1750" u="none" cap="none" strike="noStrike">
                <a:solidFill>
                  <a:srgbClr val="D3C9C5"/>
                </a:solidFill>
                <a:latin typeface="Arial"/>
                <a:ea typeface="Arial"/>
                <a:cs typeface="Arial"/>
                <a:sym typeface="Arial"/>
              </a:rPr>
              <a:t>It is maintained by conservative movements, religious institutions, and online communities to justify wage gaps and underrepresentation, not due to scientific validity but ideological usefulness.</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pic>
        <p:nvPicPr>
          <p:cNvPr descr="preencoded.png" id="53" name="Google Shape;53;p10"/>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4" name="Google Shape;54;p10"/>
          <p:cNvSpPr/>
          <p:nvPr/>
        </p:nvSpPr>
        <p:spPr>
          <a:xfrm>
            <a:off x="793790" y="762357"/>
            <a:ext cx="5897761"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8F5"/>
              </a:buClr>
              <a:buSzPts val="4450"/>
              <a:buFont typeface="Arial"/>
              <a:buNone/>
            </a:pPr>
            <a:r>
              <a:rPr b="1" i="0" lang="en-US" sz="4450" u="none" cap="none" strike="noStrike">
                <a:solidFill>
                  <a:srgbClr val="FFF8F5"/>
                </a:solidFill>
                <a:latin typeface="Arial"/>
                <a:ea typeface="Arial"/>
                <a:cs typeface="Arial"/>
                <a:sym typeface="Arial"/>
              </a:rPr>
              <a:t>Analysis of Evidence</a:t>
            </a:r>
            <a:endParaRPr b="0" i="0" sz="4450" u="none" cap="none" strike="noStrike"/>
          </a:p>
        </p:txBody>
      </p:sp>
      <p:sp>
        <p:nvSpPr>
          <p:cNvPr id="55" name="Google Shape;55;p10"/>
          <p:cNvSpPr/>
          <p:nvPr/>
        </p:nvSpPr>
        <p:spPr>
          <a:xfrm>
            <a:off x="793790" y="2038112"/>
            <a:ext cx="291679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8F5"/>
              </a:buClr>
              <a:buSzPts val="2200"/>
              <a:buFont typeface="Arial"/>
              <a:buNone/>
            </a:pPr>
            <a:r>
              <a:rPr b="1" i="0" lang="en-US" sz="2200" u="none" cap="none" strike="noStrike">
                <a:solidFill>
                  <a:srgbClr val="FFF8F5"/>
                </a:solidFill>
                <a:latin typeface="Arial"/>
                <a:ea typeface="Arial"/>
                <a:cs typeface="Arial"/>
                <a:sym typeface="Arial"/>
              </a:rPr>
              <a:t>Junk Science Claims</a:t>
            </a:r>
            <a:endParaRPr b="0" i="0" sz="2200" u="none" cap="none" strike="noStrike"/>
          </a:p>
        </p:txBody>
      </p:sp>
      <p:sp>
        <p:nvSpPr>
          <p:cNvPr id="56" name="Google Shape;56;p10"/>
          <p:cNvSpPr/>
          <p:nvPr/>
        </p:nvSpPr>
        <p:spPr>
          <a:xfrm>
            <a:off x="793790" y="2619256"/>
            <a:ext cx="3501509" cy="145161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3C9C5"/>
              </a:buClr>
              <a:buSzPts val="1750"/>
              <a:buFont typeface="Arial"/>
              <a:buChar char="•"/>
            </a:pPr>
            <a:r>
              <a:rPr b="0" i="0" lang="en-US" sz="1750" u="none" cap="none" strike="noStrike">
                <a:solidFill>
                  <a:srgbClr val="D3C9C5"/>
                </a:solidFill>
                <a:latin typeface="Arial"/>
                <a:ea typeface="Arial"/>
                <a:cs typeface="Arial"/>
                <a:sym typeface="Arial"/>
              </a:rPr>
              <a:t>Men are natural hunters; women are caregivers (Washburn &amp; Lancaster, 1968).</a:t>
            </a:r>
            <a:endParaRPr b="0" i="0" sz="1750" u="none" cap="none" strike="noStrike"/>
          </a:p>
        </p:txBody>
      </p:sp>
      <p:sp>
        <p:nvSpPr>
          <p:cNvPr id="57" name="Google Shape;57;p10"/>
          <p:cNvSpPr/>
          <p:nvPr/>
        </p:nvSpPr>
        <p:spPr>
          <a:xfrm>
            <a:off x="793790" y="4150162"/>
            <a:ext cx="3501509" cy="1088708"/>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3C9C5"/>
              </a:buClr>
              <a:buSzPts val="1750"/>
              <a:buFont typeface="Arial"/>
              <a:buChar char="•"/>
            </a:pPr>
            <a:r>
              <a:rPr b="0" i="0" lang="en-US" sz="1750" u="none" cap="none" strike="noStrike">
                <a:solidFill>
                  <a:srgbClr val="D3C9C5"/>
                </a:solidFill>
                <a:latin typeface="Arial"/>
                <a:ea typeface="Arial"/>
                <a:cs typeface="Arial"/>
                <a:sym typeface="Arial"/>
              </a:rPr>
              <a:t>Gender inequality reflects biology (Popular Manosphere articles).</a:t>
            </a:r>
            <a:endParaRPr b="0" i="0" sz="1750" u="none" cap="none" strike="noStrike"/>
          </a:p>
        </p:txBody>
      </p:sp>
      <p:sp>
        <p:nvSpPr>
          <p:cNvPr id="58" name="Google Shape;58;p10"/>
          <p:cNvSpPr/>
          <p:nvPr/>
        </p:nvSpPr>
        <p:spPr>
          <a:xfrm>
            <a:off x="793790" y="5318165"/>
            <a:ext cx="3501509" cy="1088708"/>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3C9C5"/>
              </a:buClr>
              <a:buSzPts val="1750"/>
              <a:buFont typeface="Arial"/>
              <a:buChar char="•"/>
            </a:pPr>
            <a:r>
              <a:rPr b="0" i="0" lang="en-US" sz="1750" u="none" cap="none" strike="noStrike">
                <a:solidFill>
                  <a:srgbClr val="D3C9C5"/>
                </a:solidFill>
                <a:latin typeface="Arial"/>
                <a:ea typeface="Arial"/>
                <a:cs typeface="Arial"/>
                <a:sym typeface="Arial"/>
              </a:rPr>
              <a:t>Women are less interested in leadership (Evolutionary psychology claims).</a:t>
            </a:r>
            <a:endParaRPr b="0" i="0" sz="1750" u="none" cap="none" strike="noStrike"/>
          </a:p>
        </p:txBody>
      </p:sp>
      <p:sp>
        <p:nvSpPr>
          <p:cNvPr id="59" name="Google Shape;59;p10"/>
          <p:cNvSpPr/>
          <p:nvPr/>
        </p:nvSpPr>
        <p:spPr>
          <a:xfrm>
            <a:off x="4856321" y="203811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8F5"/>
              </a:buClr>
              <a:buSzPts val="2200"/>
              <a:buFont typeface="Arial"/>
              <a:buNone/>
            </a:pPr>
            <a:r>
              <a:rPr b="1" i="0" lang="en-US" sz="2200" u="none" cap="none" strike="noStrike">
                <a:solidFill>
                  <a:srgbClr val="FFF8F5"/>
                </a:solidFill>
                <a:latin typeface="Arial"/>
                <a:ea typeface="Arial"/>
                <a:cs typeface="Arial"/>
                <a:sym typeface="Arial"/>
              </a:rPr>
              <a:t>Credible Research</a:t>
            </a:r>
            <a:endParaRPr b="0" i="0" sz="2200" u="none" cap="none" strike="noStrike"/>
          </a:p>
        </p:txBody>
      </p:sp>
      <p:sp>
        <p:nvSpPr>
          <p:cNvPr id="60" name="Google Shape;60;p10"/>
          <p:cNvSpPr/>
          <p:nvPr/>
        </p:nvSpPr>
        <p:spPr>
          <a:xfrm>
            <a:off x="4856321" y="2619256"/>
            <a:ext cx="3501509" cy="1088708"/>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3C9C5"/>
              </a:buClr>
              <a:buSzPts val="1750"/>
              <a:buFont typeface="Arial"/>
              <a:buChar char="•"/>
            </a:pPr>
            <a:r>
              <a:rPr b="0" i="0" lang="en-US" sz="1750" u="none" cap="none" strike="noStrike">
                <a:solidFill>
                  <a:srgbClr val="D3C9C5"/>
                </a:solidFill>
                <a:latin typeface="Arial"/>
                <a:ea typeface="Arial"/>
                <a:cs typeface="Arial"/>
                <a:sym typeface="Arial"/>
              </a:rPr>
              <a:t>Archaeological evidence shows female hunters (Haas et al., 2020).</a:t>
            </a:r>
            <a:endParaRPr b="0" i="0" sz="1750" u="none" cap="none" strike="noStrike"/>
          </a:p>
        </p:txBody>
      </p:sp>
      <p:sp>
        <p:nvSpPr>
          <p:cNvPr id="61" name="Google Shape;61;p10"/>
          <p:cNvSpPr/>
          <p:nvPr/>
        </p:nvSpPr>
        <p:spPr>
          <a:xfrm>
            <a:off x="4856321" y="3787259"/>
            <a:ext cx="3501509" cy="1088708"/>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3C9C5"/>
              </a:buClr>
              <a:buSzPts val="1750"/>
              <a:buFont typeface="Arial"/>
              <a:buChar char="•"/>
            </a:pPr>
            <a:r>
              <a:rPr b="0" i="0" lang="en-US" sz="1750" u="none" cap="none" strike="noStrike">
                <a:solidFill>
                  <a:srgbClr val="D3C9C5"/>
                </a:solidFill>
                <a:latin typeface="Arial"/>
                <a:ea typeface="Arial"/>
                <a:cs typeface="Arial"/>
                <a:sym typeface="Arial"/>
              </a:rPr>
              <a:t>Labor roles are context-dependent in cross-cultural forager studies.</a:t>
            </a:r>
            <a:endParaRPr b="0" i="0" sz="1750" u="none" cap="none" strike="noStrike"/>
          </a:p>
        </p:txBody>
      </p:sp>
      <p:sp>
        <p:nvSpPr>
          <p:cNvPr id="62" name="Google Shape;62;p10"/>
          <p:cNvSpPr/>
          <p:nvPr/>
        </p:nvSpPr>
        <p:spPr>
          <a:xfrm>
            <a:off x="4856321" y="4955262"/>
            <a:ext cx="3501509" cy="145161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3C9C5"/>
              </a:buClr>
              <a:buSzPts val="1750"/>
              <a:buFont typeface="Arial"/>
              <a:buChar char="•"/>
            </a:pPr>
            <a:r>
              <a:rPr b="0" i="0" lang="en-US" sz="1750" u="none" cap="none" strike="noStrike">
                <a:solidFill>
                  <a:srgbClr val="D3C9C5"/>
                </a:solidFill>
                <a:latin typeface="Arial"/>
                <a:ea typeface="Arial"/>
                <a:cs typeface="Arial"/>
                <a:sym typeface="Arial"/>
              </a:rPr>
              <a:t>Neuroscience reveals no consistent biological basis for leadership interest (Hyde, 2014).</a:t>
            </a:r>
            <a:endParaRPr b="0" i="0" sz="1750" u="none" cap="none" strike="noStrike"/>
          </a:p>
        </p:txBody>
      </p:sp>
      <p:sp>
        <p:nvSpPr>
          <p:cNvPr id="63" name="Google Shape;63;p10"/>
          <p:cNvSpPr/>
          <p:nvPr/>
        </p:nvSpPr>
        <p:spPr>
          <a:xfrm>
            <a:off x="793790" y="6741319"/>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3C9C5"/>
              </a:buClr>
              <a:buSzPts val="1750"/>
              <a:buFont typeface="Arial"/>
              <a:buNone/>
            </a:pPr>
            <a:r>
              <a:rPr b="0" i="0" lang="en-US" sz="1750" u="none" cap="none" strike="noStrike">
                <a:solidFill>
                  <a:srgbClr val="D3C9C5"/>
                </a:solidFill>
                <a:latin typeface="Arial"/>
                <a:ea typeface="Arial"/>
                <a:cs typeface="Arial"/>
                <a:sym typeface="Arial"/>
              </a:rPr>
              <a:t>The "natural roles" claim relies on outdated models, speculative reasoning, and selective amplification, qualifying as junk science.</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descr="preencoded.png" id="69" name="Google Shape;69;p11"/>
          <p:cNvPicPr preferRelativeResize="0"/>
          <p:nvPr/>
        </p:nvPicPr>
        <p:blipFill rotWithShape="1">
          <a:blip r:embed="rId3">
            <a:alphaModFix/>
          </a:blip>
          <a:srcRect b="0" l="0" r="0" t="0"/>
          <a:stretch/>
        </p:blipFill>
        <p:spPr>
          <a:xfrm>
            <a:off x="0" y="0"/>
            <a:ext cx="5486400" cy="8235196"/>
          </a:xfrm>
          <a:prstGeom prst="rect">
            <a:avLst/>
          </a:prstGeom>
          <a:noFill/>
          <a:ln>
            <a:noFill/>
          </a:ln>
        </p:spPr>
      </p:pic>
      <p:sp>
        <p:nvSpPr>
          <p:cNvPr id="70" name="Google Shape;70;p11"/>
          <p:cNvSpPr/>
          <p:nvPr/>
        </p:nvSpPr>
        <p:spPr>
          <a:xfrm>
            <a:off x="6264354" y="611267"/>
            <a:ext cx="7588091" cy="1389459"/>
          </a:xfrm>
          <a:prstGeom prst="rect">
            <a:avLst/>
          </a:prstGeom>
          <a:noFill/>
          <a:ln>
            <a:noFill/>
          </a:ln>
        </p:spPr>
        <p:txBody>
          <a:bodyPr anchorCtr="0" anchor="t" bIns="0" lIns="0" spcFirstLastPara="1" rIns="0" wrap="square" tIns="0">
            <a:noAutofit/>
          </a:bodyPr>
          <a:lstStyle/>
          <a:p>
            <a:pPr indent="0" lvl="0" marL="0" marR="0" rtl="0" algn="l">
              <a:lnSpc>
                <a:spcPct val="125287"/>
              </a:lnSpc>
              <a:spcBef>
                <a:spcPts val="0"/>
              </a:spcBef>
              <a:spcAft>
                <a:spcPts val="0"/>
              </a:spcAft>
              <a:buClr>
                <a:srgbClr val="FFF8F5"/>
              </a:buClr>
              <a:buSzPts val="4350"/>
              <a:buFont typeface="Arial"/>
              <a:buNone/>
            </a:pPr>
            <a:r>
              <a:rPr b="1" i="0" lang="en-US" sz="4350" u="none" cap="none" strike="noStrike">
                <a:solidFill>
                  <a:srgbClr val="FFF8F5"/>
                </a:solidFill>
                <a:latin typeface="Arial"/>
                <a:ea typeface="Arial"/>
                <a:cs typeface="Arial"/>
                <a:sym typeface="Arial"/>
              </a:rPr>
              <a:t>Who Benefits and Who is Harmed</a:t>
            </a:r>
            <a:endParaRPr b="0" i="0" sz="4350" u="none" cap="none" strike="noStrike"/>
          </a:p>
        </p:txBody>
      </p:sp>
      <p:sp>
        <p:nvSpPr>
          <p:cNvPr id="71" name="Google Shape;71;p11"/>
          <p:cNvSpPr/>
          <p:nvPr/>
        </p:nvSpPr>
        <p:spPr>
          <a:xfrm>
            <a:off x="6264354" y="2334101"/>
            <a:ext cx="7588091" cy="2053114"/>
          </a:xfrm>
          <a:prstGeom prst="roundRect">
            <a:avLst>
              <a:gd fmla="val 7126" name="adj"/>
            </a:avLst>
          </a:prstGeom>
          <a:solidFill>
            <a:srgbClr val="403234"/>
          </a:solidFill>
          <a:ln cap="flat" cmpd="sng" w="30475">
            <a:solidFill>
              <a:srgbClr val="786A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a:off x="6233874" y="2334101"/>
            <a:ext cx="121920" cy="2053114"/>
          </a:xfrm>
          <a:prstGeom prst="roundRect">
            <a:avLst>
              <a:gd fmla="val 27350" name="adj"/>
            </a:avLst>
          </a:prstGeom>
          <a:solidFill>
            <a:srgbClr val="E2C2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a:off x="6608564" y="2586871"/>
            <a:ext cx="2778681" cy="347305"/>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D3C9C5"/>
              </a:buClr>
              <a:buSzPts val="2150"/>
              <a:buFont typeface="Arial"/>
              <a:buNone/>
            </a:pPr>
            <a:r>
              <a:rPr b="1" i="0" lang="en-US" sz="2150" u="none" cap="none" strike="noStrike">
                <a:solidFill>
                  <a:srgbClr val="D3C9C5"/>
                </a:solidFill>
                <a:latin typeface="Arial"/>
                <a:ea typeface="Arial"/>
                <a:cs typeface="Arial"/>
                <a:sym typeface="Arial"/>
              </a:rPr>
              <a:t>Beneficiaries</a:t>
            </a:r>
            <a:endParaRPr b="0" i="0" sz="2150" u="none" cap="none" strike="noStrike"/>
          </a:p>
        </p:txBody>
      </p:sp>
      <p:sp>
        <p:nvSpPr>
          <p:cNvPr id="74" name="Google Shape;74;p11"/>
          <p:cNvSpPr/>
          <p:nvPr/>
        </p:nvSpPr>
        <p:spPr>
          <a:xfrm>
            <a:off x="6608564" y="3067526"/>
            <a:ext cx="6991112" cy="106691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3C9C5"/>
              </a:buClr>
              <a:buSzPts val="1750"/>
              <a:buFont typeface="Arial"/>
              <a:buNone/>
            </a:pPr>
            <a:r>
              <a:rPr b="0" i="0" lang="en-US" sz="1750" u="none" cap="none" strike="noStrike">
                <a:solidFill>
                  <a:srgbClr val="D3C9C5"/>
                </a:solidFill>
                <a:latin typeface="Arial"/>
                <a:ea typeface="Arial"/>
                <a:cs typeface="Arial"/>
                <a:sym typeface="Arial"/>
              </a:rPr>
              <a:t>Patriarchal institutions, corporations, and ideological movements justify male dominance, wage gaps, and resist parental leave.</a:t>
            </a:r>
            <a:endParaRPr b="0" i="0" sz="1750" u="none" cap="none" strike="noStrike"/>
          </a:p>
        </p:txBody>
      </p:sp>
      <p:sp>
        <p:nvSpPr>
          <p:cNvPr id="75" name="Google Shape;75;p11"/>
          <p:cNvSpPr/>
          <p:nvPr/>
        </p:nvSpPr>
        <p:spPr>
          <a:xfrm>
            <a:off x="6264354" y="4609505"/>
            <a:ext cx="7588091" cy="2053114"/>
          </a:xfrm>
          <a:prstGeom prst="roundRect">
            <a:avLst>
              <a:gd fmla="val 7126" name="adj"/>
            </a:avLst>
          </a:prstGeom>
          <a:solidFill>
            <a:srgbClr val="403234"/>
          </a:solidFill>
          <a:ln cap="flat" cmpd="sng" w="30475">
            <a:solidFill>
              <a:srgbClr val="786A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a:off x="6233874" y="4609505"/>
            <a:ext cx="121920" cy="2053114"/>
          </a:xfrm>
          <a:prstGeom prst="roundRect">
            <a:avLst>
              <a:gd fmla="val 27350" name="adj"/>
            </a:avLst>
          </a:prstGeom>
          <a:solidFill>
            <a:srgbClr val="E2C2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p:nvPr/>
        </p:nvSpPr>
        <p:spPr>
          <a:xfrm>
            <a:off x="6608564" y="4862274"/>
            <a:ext cx="2778681" cy="347305"/>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D3C9C5"/>
              </a:buClr>
              <a:buSzPts val="2150"/>
              <a:buFont typeface="Arial"/>
              <a:buNone/>
            </a:pPr>
            <a:r>
              <a:rPr b="1" i="0" lang="en-US" sz="2150" u="none" cap="none" strike="noStrike">
                <a:solidFill>
                  <a:srgbClr val="D3C9C5"/>
                </a:solidFill>
                <a:latin typeface="Arial"/>
                <a:ea typeface="Arial"/>
                <a:cs typeface="Arial"/>
                <a:sym typeface="Arial"/>
              </a:rPr>
              <a:t>Harms</a:t>
            </a:r>
            <a:endParaRPr b="0" i="0" sz="2150" u="none" cap="none" strike="noStrike"/>
          </a:p>
        </p:txBody>
      </p:sp>
      <p:sp>
        <p:nvSpPr>
          <p:cNvPr id="78" name="Google Shape;78;p11"/>
          <p:cNvSpPr/>
          <p:nvPr/>
        </p:nvSpPr>
        <p:spPr>
          <a:xfrm>
            <a:off x="6608564" y="5342930"/>
            <a:ext cx="6991112" cy="106691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3C9C5"/>
              </a:buClr>
              <a:buSzPts val="1750"/>
              <a:buFont typeface="Arial"/>
              <a:buNone/>
            </a:pPr>
            <a:r>
              <a:rPr b="0" i="0" lang="en-US" sz="1750" u="none" cap="none" strike="noStrike">
                <a:solidFill>
                  <a:srgbClr val="D3C9C5"/>
                </a:solidFill>
                <a:latin typeface="Arial"/>
                <a:ea typeface="Arial"/>
                <a:cs typeface="Arial"/>
                <a:sym typeface="Arial"/>
              </a:rPr>
              <a:t>Women face restricted access to education, leadership, and economic mobility. Men are discouraged from caregiving roles. Society loses productivity and resilience.</a:t>
            </a:r>
            <a:endParaRPr b="0" i="0" sz="1750" u="none" cap="none" strike="noStrike"/>
          </a:p>
        </p:txBody>
      </p:sp>
      <p:sp>
        <p:nvSpPr>
          <p:cNvPr id="79" name="Google Shape;79;p11"/>
          <p:cNvSpPr/>
          <p:nvPr/>
        </p:nvSpPr>
        <p:spPr>
          <a:xfrm>
            <a:off x="6264354" y="6912650"/>
            <a:ext cx="7588091" cy="7112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3C9C5"/>
              </a:buClr>
              <a:buSzPts val="1750"/>
              <a:buFont typeface="Arial"/>
              <a:buNone/>
            </a:pPr>
            <a:r>
              <a:rPr b="0" i="0" lang="en-US" sz="1750" u="none" cap="none" strike="noStrike">
                <a:solidFill>
                  <a:srgbClr val="D3C9C5"/>
                </a:solidFill>
                <a:latin typeface="Arial"/>
                <a:ea typeface="Arial"/>
                <a:cs typeface="Arial"/>
                <a:sym typeface="Arial"/>
              </a:rPr>
              <a:t>Framing inequality as biologically inevitable protects those in power while disadvantaging everyone else.</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2"/>
          <p:cNvSpPr/>
          <p:nvPr/>
        </p:nvSpPr>
        <p:spPr>
          <a:xfrm>
            <a:off x="793790" y="2069306"/>
            <a:ext cx="718649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8F5"/>
              </a:buClr>
              <a:buSzPts val="4450"/>
              <a:buFont typeface="Arial"/>
              <a:buNone/>
            </a:pPr>
            <a:r>
              <a:rPr b="1" i="0" lang="en-US" sz="4450" u="none" cap="none" strike="noStrike">
                <a:solidFill>
                  <a:srgbClr val="FFF8F5"/>
                </a:solidFill>
                <a:latin typeface="Arial"/>
                <a:ea typeface="Arial"/>
                <a:cs typeface="Arial"/>
                <a:sym typeface="Arial"/>
              </a:rPr>
              <a:t>Conclusion &amp; References</a:t>
            </a:r>
            <a:endParaRPr b="0" i="0" sz="4450" u="none" cap="none" strike="noStrike"/>
          </a:p>
        </p:txBody>
      </p:sp>
      <p:sp>
        <p:nvSpPr>
          <p:cNvPr id="86" name="Google Shape;86;p12"/>
          <p:cNvSpPr/>
          <p:nvPr/>
        </p:nvSpPr>
        <p:spPr>
          <a:xfrm>
            <a:off x="793790" y="3231713"/>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3C9C5"/>
              </a:buClr>
              <a:buSzPts val="1750"/>
              <a:buFont typeface="Arial"/>
              <a:buNone/>
            </a:pPr>
            <a:r>
              <a:rPr b="0" i="0" lang="en-US" sz="1750" u="none" cap="none" strike="noStrike">
                <a:solidFill>
                  <a:srgbClr val="D3C9C5"/>
                </a:solidFill>
                <a:latin typeface="Arial"/>
                <a:ea typeface="Arial"/>
                <a:cs typeface="Arial"/>
                <a:sym typeface="Arial"/>
              </a:rPr>
              <a:t>Strict gender roles are a clear example of junk science, relying on selective evidence and cultural bias. Exposing these claims enables evidence-based policies that promote fairness and equitable institutions.</a:t>
            </a:r>
            <a:endParaRPr b="0" i="0" sz="1750" u="none" cap="none" strike="noStrike"/>
          </a:p>
        </p:txBody>
      </p:sp>
      <p:sp>
        <p:nvSpPr>
          <p:cNvPr id="87" name="Google Shape;87;p12"/>
          <p:cNvSpPr/>
          <p:nvPr/>
        </p:nvSpPr>
        <p:spPr>
          <a:xfrm>
            <a:off x="793790" y="429768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8F5"/>
              </a:buClr>
              <a:buSzPts val="2200"/>
              <a:buFont typeface="Arial"/>
              <a:buNone/>
            </a:pPr>
            <a:r>
              <a:rPr b="1" i="0" lang="en-US" sz="2200" u="none" cap="none" strike="noStrike">
                <a:solidFill>
                  <a:srgbClr val="FFF8F5"/>
                </a:solidFill>
                <a:latin typeface="Arial"/>
                <a:ea typeface="Arial"/>
                <a:cs typeface="Arial"/>
                <a:sym typeface="Arial"/>
              </a:rPr>
              <a:t>References</a:t>
            </a:r>
            <a:endParaRPr b="0" i="0" sz="2200" u="none" cap="none" strike="noStrike"/>
          </a:p>
        </p:txBody>
      </p:sp>
      <p:sp>
        <p:nvSpPr>
          <p:cNvPr id="88" name="Google Shape;88;p12"/>
          <p:cNvSpPr/>
          <p:nvPr/>
        </p:nvSpPr>
        <p:spPr>
          <a:xfrm>
            <a:off x="793790" y="4992172"/>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3C9C5"/>
              </a:buClr>
              <a:buSzPts val="1750"/>
              <a:buFont typeface="Arial"/>
              <a:buNone/>
            </a:pPr>
            <a:r>
              <a:rPr b="0" i="0" lang="en-US" sz="1750" u="none" cap="none" strike="noStrike">
                <a:solidFill>
                  <a:srgbClr val="D3C9C5"/>
                </a:solidFill>
                <a:latin typeface="Arial"/>
                <a:ea typeface="Arial"/>
                <a:cs typeface="Arial"/>
                <a:sym typeface="Arial"/>
              </a:rPr>
              <a:t>Haas, R., et al. (2020). Female Big-Game Hunters in the Andes. </a:t>
            </a:r>
            <a:r>
              <a:rPr b="0" i="1" lang="en-US" sz="1750" u="none" cap="none" strike="noStrike">
                <a:solidFill>
                  <a:srgbClr val="D3C9C5"/>
                </a:solidFill>
                <a:latin typeface="Arial"/>
                <a:ea typeface="Arial"/>
                <a:cs typeface="Arial"/>
                <a:sym typeface="Arial"/>
              </a:rPr>
              <a:t>Science Advances, 6</a:t>
            </a:r>
            <a:r>
              <a:rPr b="0" i="0" lang="en-US" sz="1750" u="none" cap="none" strike="noStrike">
                <a:solidFill>
                  <a:srgbClr val="D3C9C5"/>
                </a:solidFill>
                <a:latin typeface="Arial"/>
                <a:ea typeface="Arial"/>
                <a:cs typeface="Arial"/>
                <a:sym typeface="Arial"/>
              </a:rPr>
              <a:t>(12), eaay2615.</a:t>
            </a:r>
            <a:endParaRPr b="0" i="0" sz="1750" u="none" cap="none" strike="noStrike"/>
          </a:p>
        </p:txBody>
      </p:sp>
      <p:sp>
        <p:nvSpPr>
          <p:cNvPr id="89" name="Google Shape;89;p12"/>
          <p:cNvSpPr/>
          <p:nvPr/>
        </p:nvSpPr>
        <p:spPr>
          <a:xfrm>
            <a:off x="793790" y="5434370"/>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3C9C5"/>
              </a:buClr>
              <a:buSzPts val="1750"/>
              <a:buFont typeface="Arial"/>
              <a:buNone/>
            </a:pPr>
            <a:r>
              <a:rPr b="0" i="0" lang="en-US" sz="1750" u="none" cap="none" strike="noStrike">
                <a:solidFill>
                  <a:srgbClr val="D3C9C5"/>
                </a:solidFill>
                <a:latin typeface="Arial"/>
                <a:ea typeface="Arial"/>
                <a:cs typeface="Arial"/>
                <a:sym typeface="Arial"/>
              </a:rPr>
              <a:t>Hyde, J. S. (2014). Gender Similarities and Differences in Cognitive Abilities. </a:t>
            </a:r>
            <a:r>
              <a:rPr b="0" i="1" lang="en-US" sz="1750" u="none" cap="none" strike="noStrike">
                <a:solidFill>
                  <a:srgbClr val="D3C9C5"/>
                </a:solidFill>
                <a:latin typeface="Arial"/>
                <a:ea typeface="Arial"/>
                <a:cs typeface="Arial"/>
                <a:sym typeface="Arial"/>
              </a:rPr>
              <a:t>Current Directions in Psychological Science, 23</a:t>
            </a:r>
            <a:r>
              <a:rPr b="0" i="0" lang="en-US" sz="1750" u="none" cap="none" strike="noStrike">
                <a:solidFill>
                  <a:srgbClr val="D3C9C5"/>
                </a:solidFill>
                <a:latin typeface="Arial"/>
                <a:ea typeface="Arial"/>
                <a:cs typeface="Arial"/>
                <a:sym typeface="Arial"/>
              </a:rPr>
              <a:t>(3), 171–176.</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