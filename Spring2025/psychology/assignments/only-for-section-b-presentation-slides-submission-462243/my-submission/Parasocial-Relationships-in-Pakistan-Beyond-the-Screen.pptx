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Nunito Semi Bold"/>
      <p:regular r:id="rId15"/>
    </p:embeddedFont>
    <p:embeddedFont>
      <p:font typeface="Nunito Semi Bold"/>
      <p:regular r:id="rId16"/>
    </p:embeddedFon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PT Sans"/>
      <p:regular r:id="rId19"/>
    </p:embeddedFont>
    <p:embeddedFont>
      <p:font typeface="PT Sans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81296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Parasocial Relationships in Pakistan: Beyond the Screen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57997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 felt a deep connection with someone you've never met? Parasocial relationships connect fans to celebrities who feel like friends.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phenomenon is growing rapidly in Pakistan's digital age and shapes social and emotional lives.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565046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Targeted at university psychology students, we explore causes, impacts, and solutions.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938927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Psychological Drivers: Filling the Void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705933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01959" y="2788206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Loneliness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101959" y="3283744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Social isolation in Pakistan rose 40% post-COVID (Gallup).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208062" y="2705933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85897" y="2788206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Attachment Theory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85897" y="3283744"/>
            <a:ext cx="28068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Celebrities act as secure bases offering emotional security (Bowlby).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4911566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01959" y="49938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Social Surrogacy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101959" y="5489377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Fans feel 'understood' by drama characters fulfilling unmet social needs.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324124" y="6524625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Example: Pakistani drama fans often relate deeply to characters, feeling companionship.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42267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Social &amp; Cultural Drivers: Idol Worship and Escapism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48589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Celebrity Worship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39853"/>
            <a:ext cx="280082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75% of Pakistani youth admire celebrities (local survey).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230053" y="3948589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Escapism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30053" y="4539853"/>
            <a:ext cx="280082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Dramas provide a relaxing escape from daily pressures (Dawn Newspaper).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22381" y="3948589"/>
            <a:ext cx="2800826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Media &amp; Social Amplification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2381" y="4891802"/>
            <a:ext cx="280082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Fan communities and viral trends amplify this connection.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1014710" y="3948589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Pakistan Example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4710" y="4539853"/>
            <a:ext cx="280082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Obsessive fandom for Turkish drama actors is widespread in Pakistan.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95821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Emotional Impact: The Illusion of Intimacy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725222"/>
            <a:ext cx="3614618" cy="2520910"/>
          </a:xfrm>
          <a:prstGeom prst="roundRect">
            <a:avLst>
              <a:gd name="adj" fmla="val 14244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6299" y="2987397"/>
            <a:ext cx="309026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Unrealistic Expectations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86299" y="3834884"/>
            <a:ext cx="309026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Relationships often idealized “like a drama”, influencing beliefs (local expert).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2725222"/>
            <a:ext cx="3614618" cy="2520910"/>
          </a:xfrm>
          <a:prstGeom prst="roundRect">
            <a:avLst>
              <a:gd name="adj" fmla="val 14244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0233" y="298739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Emotional Investment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40233" y="3482935"/>
            <a:ext cx="309026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Strong feelings triggered by celebrity deaths or scandals.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485448"/>
            <a:ext cx="7468553" cy="1785938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6299" y="574762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Pakistan Example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86299" y="6243161"/>
            <a:ext cx="694420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Public outrage over celebrity divorce news reflects deep parasocial bonds.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213" y="938451"/>
            <a:ext cx="7633573" cy="1269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Societal Impact: Shifting Norms and Values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55213" y="2531507"/>
            <a:ext cx="485537" cy="485537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56492" y="2605683"/>
            <a:ext cx="253877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Media Influence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56492" y="3052405"/>
            <a:ext cx="693229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Shaping ideals of beauty, success, and relationships.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55213" y="3829288"/>
            <a:ext cx="485537" cy="485537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56492" y="3903464"/>
            <a:ext cx="2739509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Changing Gender Roles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456492" y="4350187"/>
            <a:ext cx="693229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Media often portrays modern roles contrasting with societal reality.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55213" y="5127069"/>
            <a:ext cx="485537" cy="485537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56492" y="5201245"/>
            <a:ext cx="253877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Pakistan Example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456492" y="5647968"/>
            <a:ext cx="693229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Dramas impact marriage expectations, sometimes unrealistic.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55213" y="6424851"/>
            <a:ext cx="485537" cy="485537"/>
          </a:xfrm>
          <a:prstGeom prst="roundRect">
            <a:avLst>
              <a:gd name="adj" fmla="val 66669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56492" y="6499027"/>
            <a:ext cx="253877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Relationship Erosion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456492" y="6945749"/>
            <a:ext cx="693229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Parasocial bonds may reduce investment in real-life relationships.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55448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Solutions: Media Literacy - Decoding the Message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321487"/>
            <a:ext cx="179427" cy="878562"/>
          </a:xfrm>
          <a:prstGeom prst="roundRect">
            <a:avLst>
              <a:gd name="adj" fmla="val 200121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76124" y="33214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Critical Thinking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6124" y="3817025"/>
            <a:ext cx="69301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Encourage questioning media stories and motives.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196697" y="4439364"/>
            <a:ext cx="179427" cy="878562"/>
          </a:xfrm>
          <a:prstGeom prst="roundRect">
            <a:avLst>
              <a:gd name="adj" fmla="val 200121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35098" y="443936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Healthy Boundaries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735098" y="4934903"/>
            <a:ext cx="657117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Balance online fandom with offline social connections.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555790" y="5557242"/>
            <a:ext cx="179427" cy="878562"/>
          </a:xfrm>
          <a:prstGeom prst="roundRect">
            <a:avLst>
              <a:gd name="adj" fmla="val 200121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94190" y="555724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Pakistan Example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094190" y="6052780"/>
            <a:ext cx="62120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School workshops raise awareness about media influence.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0333" y="597813"/>
            <a:ext cx="7623334" cy="1916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Solutions: Cognitive Behavioral Therapy (CBT) for Healthy Relationships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60333" y="2840355"/>
            <a:ext cx="488752" cy="488752"/>
          </a:xfrm>
          <a:prstGeom prst="roundRect">
            <a:avLst>
              <a:gd name="adj" fmla="val 66676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66255" y="2915007"/>
            <a:ext cx="3200043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Identify Unhealthy Patterns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466255" y="3364706"/>
            <a:ext cx="6917412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Recognize distorted beliefs fueling parasocial attachment.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60333" y="4146828"/>
            <a:ext cx="488752" cy="488752"/>
          </a:xfrm>
          <a:prstGeom prst="roundRect">
            <a:avLst>
              <a:gd name="adj" fmla="val 66676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66255" y="4221480"/>
            <a:ext cx="2555915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Develop Coping Skills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66255" y="4671179"/>
            <a:ext cx="6917412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Manage loneliness through effective methods.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60333" y="5453301"/>
            <a:ext cx="488752" cy="488752"/>
          </a:xfrm>
          <a:prstGeom prst="roundRect">
            <a:avLst>
              <a:gd name="adj" fmla="val 66676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6255" y="5527953"/>
            <a:ext cx="2555915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Build Genuine Bonds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66255" y="5977652"/>
            <a:ext cx="6917412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Foster real-life social connections.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0333" y="6759773"/>
            <a:ext cx="488752" cy="488752"/>
          </a:xfrm>
          <a:prstGeom prst="roundRect">
            <a:avLst>
              <a:gd name="adj" fmla="val 66676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66255" y="6834426"/>
            <a:ext cx="2555915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Pakistan Example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66255" y="7284125"/>
            <a:ext cx="6917412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Counseling centers incorporate CBT for media-related issues.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41897"/>
            <a:ext cx="1103185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Takeaways: Navigating the Digital Age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988588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Parasocial relationships are complex and widespread in Pakistan.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838337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Understanding their causes guides effective interventions.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688086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Emotional and societal impacts reshape norms and values.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537835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Media literacy and CBT promote balanced media engagement.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14761" y="3120271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Encourage healthy connections in a digitally connected world.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410170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Empower audiences to engage wisely with media figures.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2025-05-01T10:59:01Z</dcterms:created>
  <dcterms:modified xsi:type="dcterms:W3CDTF">2025-05-01T10:59:01Z</dcterms:modified>
</cp:coreProperties>
</file>