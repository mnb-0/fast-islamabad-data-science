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0" r:id="rId4"/>
  </p:sldMasterIdLst>
  <p:notesMasterIdLst>
    <p:notesMasterId r:id="rId25"/>
  </p:notesMasterIdLst>
  <p:handoutMasterIdLst>
    <p:handoutMasterId r:id="rId26"/>
  </p:handoutMasterIdLst>
  <p:sldIdLst>
    <p:sldId id="310" r:id="rId5"/>
    <p:sldId id="317" r:id="rId6"/>
    <p:sldId id="316" r:id="rId7"/>
    <p:sldId id="312" r:id="rId8"/>
    <p:sldId id="327" r:id="rId9"/>
    <p:sldId id="311" r:id="rId10"/>
    <p:sldId id="318" r:id="rId11"/>
    <p:sldId id="319" r:id="rId12"/>
    <p:sldId id="326" r:id="rId13"/>
    <p:sldId id="325" r:id="rId14"/>
    <p:sldId id="320" r:id="rId15"/>
    <p:sldId id="313" r:id="rId16"/>
    <p:sldId id="314" r:id="rId17"/>
    <p:sldId id="329" r:id="rId18"/>
    <p:sldId id="330" r:id="rId19"/>
    <p:sldId id="331" r:id="rId20"/>
    <p:sldId id="332" r:id="rId21"/>
    <p:sldId id="328" r:id="rId22"/>
    <p:sldId id="322" r:id="rId23"/>
    <p:sldId id="32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5EE6"/>
    <a:srgbClr val="132BDC"/>
    <a:srgbClr val="DCE0FC"/>
    <a:srgbClr val="FDF200"/>
    <a:srgbClr val="80FBE5"/>
    <a:srgbClr val="3CF3D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4A4DF8-8FDE-4DB0-9F3B-803439EBF21B}" v="329" dt="2026-05-03T17:44:11.306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86"/>
    <p:restoredTop sz="94658"/>
  </p:normalViewPr>
  <p:slideViewPr>
    <p:cSldViewPr snapToGrid="0">
      <p:cViewPr varScale="1">
        <p:scale>
          <a:sx n="105" d="100"/>
          <a:sy n="105" d="100"/>
        </p:scale>
        <p:origin x="8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3720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14A1CB-5452-AC70-7D60-1A44C62C56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16B759-0F79-F999-E975-D9DBEDB8A5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9E520-E069-0742-BD97-ED28BB08EC53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9A7C7E-774B-6207-364F-BAC51DF08F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ACE22-8537-7305-26E3-E0E0AF83D5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964BE-1CD1-1943-8CAA-B6D417321F1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5003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85F30-A497-F84E-BC49-B57AB2B760AA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D3E5B-4BED-B24C-9674-6B6454D045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33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535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7B902-09B5-4324-8310-59625360F035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671229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640080"/>
            <a:ext cx="7478991" cy="3635797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6169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1A11-88E2-4BD0-90A5-503C684B9CC0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440" y="4842220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440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596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9A73-9EF0-435E-951F-A4ACE59FBD85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1" y="4334808"/>
            <a:ext cx="8229599" cy="14140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634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1807950" cy="4769446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BE8CE-6011-4887-8688-8D57691F11AD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7" y="6023021"/>
            <a:ext cx="10690154" cy="48037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7" y="4944365"/>
            <a:ext cx="10690154" cy="914482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776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82532" y="244342"/>
            <a:ext cx="85381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86426EA-0386-4881-8D6D-3F08C95C4A7F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6" y="4731335"/>
            <a:ext cx="4055107" cy="1184585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055108" cy="347523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382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88802" y="0"/>
            <a:ext cx="6619138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1E3A5278-B5E1-FBBE-AF4B-151288A1669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16200000">
            <a:off x="11579347" y="228600"/>
            <a:ext cx="841248" cy="384048"/>
          </a:xfrm>
        </p:spPr>
        <p:txBody>
          <a:bodyPr/>
          <a:lstStyle/>
          <a:p>
            <a:fld id="{1FE1A989-42EF-40B2-87AB-6941C231CD4A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78D40854-7295-C18A-ECA9-35F0B7731B2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9332362" y="3316833"/>
            <a:ext cx="5335225" cy="38405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EA127F09-58C9-5029-F86D-539EE848D4E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 rot="16200000">
            <a:off x="11659214" y="6325209"/>
            <a:ext cx="681526" cy="38405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8" y="4795730"/>
            <a:ext cx="4056192" cy="1380744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8" y="640079"/>
            <a:ext cx="4056192" cy="3737921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9151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AA26D96A-42E4-8591-AB40-44F5803CFF68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096000" y="0"/>
            <a:ext cx="6096000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8" y="5557298"/>
            <a:ext cx="5091864" cy="883258"/>
          </a:xfrm>
        </p:spPr>
        <p:txBody>
          <a:bodyPr lIns="91440" tIns="9144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2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8" y="417444"/>
            <a:ext cx="5091864" cy="4890965"/>
          </a:xfrm>
        </p:spPr>
        <p:txBody>
          <a:bodyPr lIns="91440" tIns="91440" rIns="0" bIns="0" anchor="b">
            <a:noAutofit/>
          </a:bodyPr>
          <a:lstStyle>
            <a:lvl1pPr algn="l">
              <a:defRPr sz="3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02373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97DE541-D546-A518-2627-DF4D33C643AA}"/>
              </a:ext>
            </a:extLst>
          </p:cNvPr>
          <p:cNvSpPr/>
          <p:nvPr userDrawn="1"/>
        </p:nvSpPr>
        <p:spPr>
          <a:xfrm>
            <a:off x="0" y="-1"/>
            <a:ext cx="1180795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640077"/>
            <a:ext cx="7763256" cy="594637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630067"/>
            <a:ext cx="7772400" cy="4572000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835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" y="2662000"/>
            <a:ext cx="8467558" cy="355456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64108"/>
            <a:ext cx="8467558" cy="155448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9420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940312"/>
            <a:ext cx="11442188" cy="567696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315874"/>
            <a:ext cx="11442188" cy="528186"/>
          </a:xfrm>
        </p:spPr>
        <p:txBody>
          <a:bodyPr anchor="ctr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181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69CE-4771-4BFA-AD70-0E51ABA58D6D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367091"/>
            <a:ext cx="11422799" cy="612381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92135"/>
            <a:ext cx="10515600" cy="1325880"/>
          </a:xfrm>
        </p:spPr>
        <p:txBody>
          <a:bodyPr anchor="ctr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0223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E4242-8CA0-457D-B3B1-7D78B4164321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76" y="2220977"/>
            <a:ext cx="10688608" cy="399558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80"/>
            <a:ext cx="10690155" cy="1185545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8075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D6F41-6645-4089-A6BB-7B692A44A4CC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3992" y="2386584"/>
            <a:ext cx="4804811" cy="245973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  <a:lvl2pPr marL="228600" indent="0">
              <a:lnSpc>
                <a:spcPct val="100000"/>
              </a:lnSpc>
              <a:buNone/>
              <a:defRPr/>
            </a:lvl2pPr>
            <a:lvl3pPr marL="457200" indent="0">
              <a:lnSpc>
                <a:spcPct val="100000"/>
              </a:lnSpc>
              <a:buNone/>
              <a:defRPr/>
            </a:lvl3pPr>
            <a:lvl4pPr marL="685800" indent="0">
              <a:lnSpc>
                <a:spcPct val="100000"/>
              </a:lnSpc>
              <a:buNone/>
              <a:defRPr/>
            </a:lvl4pPr>
            <a:lvl5pPr marL="914400" indent="0">
              <a:lnSpc>
                <a:spcPct val="100000"/>
              </a:lnSpc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2385975"/>
            <a:ext cx="4804812" cy="2454796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027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73AF-3955-4569-8B4F-B329360A9CBD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50991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276D-BBED-48BC-B459-1E9A16CF46CD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DD74ED7B-D05F-9923-6EB3-4AA483A680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14320" y="1538288"/>
            <a:ext cx="5824481" cy="475234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1537853"/>
            <a:ext cx="4317026" cy="475277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77302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38C57-8E3B-4697-92F8-0ED9B71F7E17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38655" y="640080"/>
            <a:ext cx="5779644" cy="557648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151" y="640080"/>
            <a:ext cx="4296522" cy="557648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9240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DC593-EA98-4C39-A75F-3F3A9C691019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35995" y="640080"/>
            <a:ext cx="6802805" cy="557648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80"/>
            <a:ext cx="3338701" cy="557648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50740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11577950" y="230002"/>
            <a:ext cx="844059" cy="384049"/>
          </a:xfrm>
        </p:spPr>
        <p:txBody>
          <a:bodyPr/>
          <a:lstStyle/>
          <a:p>
            <a:fld id="{8FACD271-2BB0-4C13-9E3A-50B90F57CA5B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2532" y="2220977"/>
            <a:ext cx="5896267" cy="399558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2532" y="640080"/>
            <a:ext cx="5896266" cy="118554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86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407285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C4109C0-CC82-467C-B6E8-62D4D3634E2A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9313727" y="3338289"/>
            <a:ext cx="5372504" cy="38404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 rot="16200000">
            <a:off x="11679261" y="6345259"/>
            <a:ext cx="641434" cy="384046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7" y="2220977"/>
            <a:ext cx="6282871" cy="399558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21" y="640080"/>
            <a:ext cx="6282871" cy="118554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47407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3796145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11577948" y="230003"/>
            <a:ext cx="844058" cy="384051"/>
          </a:xfrm>
        </p:spPr>
        <p:txBody>
          <a:bodyPr/>
          <a:lstStyle/>
          <a:p>
            <a:fld id="{1A5F77D0-C28E-4573-88F0-0A30FF98888E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44788" y="2220977"/>
            <a:ext cx="6894013" cy="399558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4788" y="640080"/>
            <a:ext cx="6894013" cy="118554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4419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07688" y="0"/>
            <a:ext cx="4100261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1F1191D-5EC4-40DF-9DB6-A6385AB88B55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9313724" y="3338288"/>
            <a:ext cx="5372504" cy="38404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 rot="16200000">
            <a:off x="11679263" y="6345259"/>
            <a:ext cx="641434" cy="38404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7" y="2220977"/>
            <a:ext cx="6569391" cy="3995588"/>
          </a:xfrm>
        </p:spPr>
        <p:txBody>
          <a:bodyPr/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80"/>
            <a:ext cx="6569391" cy="1185544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117496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77947" y="230005"/>
            <a:ext cx="844059" cy="38404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468DAA-49F6-4492-82E6-75555EB31418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80661" y="2506738"/>
            <a:ext cx="4058141" cy="370847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0661" y="640080"/>
            <a:ext cx="4058142" cy="14699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6604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42313" y="0"/>
            <a:ext cx="6445856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69792" y="219040"/>
            <a:ext cx="841248" cy="403167"/>
          </a:xfrm>
        </p:spPr>
        <p:txBody>
          <a:bodyPr/>
          <a:lstStyle/>
          <a:p>
            <a:fld id="{41D22668-A3AE-429F-A351-A1583BA90793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302759" y="3327321"/>
            <a:ext cx="5375314" cy="4031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1669700" y="6335696"/>
            <a:ext cx="641433" cy="403167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8" y="2506737"/>
            <a:ext cx="4243632" cy="370982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07" y="640079"/>
            <a:ext cx="4244436" cy="147038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7735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77947" y="230005"/>
            <a:ext cx="844060" cy="38404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3A2E2B-8F4D-437C-9F55-5E913AFC716A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40888" y="1745672"/>
            <a:ext cx="4218419" cy="447089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9" y="640080"/>
            <a:ext cx="4217598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6772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24251" y="0"/>
            <a:ext cx="6274280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74644" y="223888"/>
            <a:ext cx="841248" cy="393471"/>
          </a:xfrm>
        </p:spPr>
        <p:txBody>
          <a:bodyPr/>
          <a:lstStyle/>
          <a:p>
            <a:fld id="{46C70014-48FC-4647-9615-BBD39F98887D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307611" y="3332170"/>
            <a:ext cx="5375316" cy="393471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1675228" y="6339869"/>
            <a:ext cx="640080" cy="393471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7" y="1602889"/>
            <a:ext cx="4426953" cy="46136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320040"/>
            <a:ext cx="4426953" cy="115375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3882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11579353" y="228599"/>
            <a:ext cx="841248" cy="384051"/>
          </a:xfrm>
        </p:spPr>
        <p:txBody>
          <a:bodyPr/>
          <a:lstStyle/>
          <a:p>
            <a:fld id="{C089F4EF-3CDF-46D7-ADF4-3A52C84FD8BE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9312317" y="3336881"/>
            <a:ext cx="5375316" cy="384051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32918" y="2285999"/>
            <a:ext cx="3126383" cy="393056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2791" y="640079"/>
            <a:ext cx="3126511" cy="147038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0039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82601" y="0"/>
            <a:ext cx="7430217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81787" y="227618"/>
            <a:ext cx="841248" cy="379182"/>
          </a:xfrm>
        </p:spPr>
        <p:txBody>
          <a:bodyPr/>
          <a:lstStyle/>
          <a:p>
            <a:fld id="{E635C43F-DBB1-4D83-B442-E1529AA900C2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332304" y="3318349"/>
            <a:ext cx="5340213" cy="379182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1662434" y="6328433"/>
            <a:ext cx="679953" cy="379181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8" y="2346897"/>
            <a:ext cx="3285306" cy="383115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8" y="640079"/>
            <a:ext cx="3285306" cy="147038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892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88816" y="228597"/>
            <a:ext cx="841248" cy="384052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D13F81E-C5BD-4314-B9B9-AAE2702F29D2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318449" y="3340209"/>
            <a:ext cx="5372517" cy="374587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2894707" cy="295351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  <a:lvl2pPr marL="228600" indent="0">
              <a:lnSpc>
                <a:spcPct val="100000"/>
              </a:lnSpc>
              <a:buNone/>
              <a:defRPr sz="2000"/>
            </a:lvl2pPr>
            <a:lvl3pPr marL="457200" indent="0">
              <a:lnSpc>
                <a:spcPct val="100000"/>
              </a:lnSpc>
              <a:buNone/>
              <a:defRPr sz="1800"/>
            </a:lvl3pPr>
            <a:lvl4pPr marL="685800" indent="0">
              <a:lnSpc>
                <a:spcPct val="100000"/>
              </a:lnSpc>
              <a:buNone/>
              <a:defRPr sz="1600"/>
            </a:lvl4pPr>
            <a:lvl5pPr marL="914400" indent="0">
              <a:lnSpc>
                <a:spcPct val="100000"/>
              </a:lnSpc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2894707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722170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1807952" cy="4635132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C146-0A20-4029-98D5-9A42EEDF8B24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14320" y="5070445"/>
            <a:ext cx="5803979" cy="13321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/>
            </a:lvl1pPr>
            <a:lvl2pPr marL="228600" indent="0">
              <a:lnSpc>
                <a:spcPct val="100000"/>
              </a:lnSpc>
              <a:buFont typeface="Arial" panose="020B0604020202020204" pitchFamily="34" charset="0"/>
              <a:buNone/>
              <a:defRPr sz="1400"/>
            </a:lvl2pPr>
            <a:lvl3pPr marL="457200" indent="0">
              <a:lnSpc>
                <a:spcPct val="100000"/>
              </a:lnSpc>
              <a:buFont typeface="Arial" panose="020B0604020202020204" pitchFamily="34" charset="0"/>
              <a:buNone/>
              <a:defRPr sz="1200"/>
            </a:lvl3pPr>
            <a:lvl4pPr marL="685800" indent="0">
              <a:lnSpc>
                <a:spcPct val="100000"/>
              </a:lnSpc>
              <a:buFont typeface="Arial" panose="020B0604020202020204" pitchFamily="34" charset="0"/>
              <a:buNone/>
              <a:defRPr sz="1100"/>
            </a:lvl4pPr>
            <a:lvl5pPr marL="914400" indent="0">
              <a:lnSpc>
                <a:spcPct val="100000"/>
              </a:lnSpc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5070446"/>
            <a:ext cx="4317026" cy="133215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9966100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1807952" cy="377827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2A2F-57DF-45DA-A7E9-678FD33267B9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21144" y="4197652"/>
            <a:ext cx="7317660" cy="2204945"/>
          </a:xfr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 marL="514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 marL="857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/>
            </a:lvl4pPr>
            <a:lvl5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4194674"/>
            <a:ext cx="2823849" cy="220494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6222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079730"/>
            <a:ext cx="11807947" cy="377827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56490" y="251460"/>
            <a:ext cx="886968" cy="384048"/>
          </a:xfrm>
        </p:spPr>
        <p:txBody>
          <a:bodyPr/>
          <a:lstStyle/>
          <a:p>
            <a:fld id="{9128053F-E531-4885-B604-CF1A6DEEE405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332422" y="3362497"/>
            <a:ext cx="5335109" cy="384049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1679934" y="6350094"/>
            <a:ext cx="640080" cy="38404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39328" y="640077"/>
            <a:ext cx="7099472" cy="2016112"/>
          </a:xfr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 marL="514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 marL="857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/>
            </a:lvl4pPr>
            <a:lvl5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6" y="640077"/>
            <a:ext cx="3021529" cy="201195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7561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9152" y="1993348"/>
            <a:ext cx="5442604" cy="4220413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791B-F730-470C-BD5E-FFF8D449589F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0910" y="1993349"/>
            <a:ext cx="4657891" cy="4220413"/>
          </a:xfrm>
        </p:spPr>
        <p:txBody>
          <a:bodyPr/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8" y="640078"/>
            <a:ext cx="10690154" cy="933889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0285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7" y="2662000"/>
            <a:ext cx="4907263" cy="3551762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FE0C-303A-49D2-B22C-9FE8AE7D9EF1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04554" y="640077"/>
            <a:ext cx="5234247" cy="557368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77"/>
            <a:ext cx="4907265" cy="160254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0625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7" y="2662000"/>
            <a:ext cx="3871623" cy="3551762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8917" y="640077"/>
            <a:ext cx="6249382" cy="557368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77"/>
            <a:ext cx="3871623" cy="1602540"/>
          </a:xfrm>
        </p:spPr>
        <p:txBody>
          <a:bodyPr lIns="91440" tIns="91440"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1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D3D17-73C9-402C-91E7-BA73E6829C50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7" y="5299364"/>
            <a:ext cx="10746884" cy="91439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8" y="640078"/>
            <a:ext cx="10746881" cy="4261106"/>
          </a:xfrm>
        </p:spPr>
        <p:txBody>
          <a:bodyPr anchor="b">
            <a:normAutofit/>
          </a:bodyPr>
          <a:lstStyle>
            <a:lvl1pPr algn="l">
              <a:defRPr sz="20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189394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7CDD-9512-40CC-9351-FC0DE186CFBD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87636"/>
            <a:ext cx="7525512" cy="122612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8" y="640078"/>
            <a:ext cx="10690156" cy="4169666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92016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EAFE8D-E6F6-F95B-AE55-3E20B32F4478}"/>
              </a:ext>
            </a:extLst>
          </p:cNvPr>
          <p:cNvSpPr/>
          <p:nvPr userDrawn="1"/>
        </p:nvSpPr>
        <p:spPr>
          <a:xfrm>
            <a:off x="0" y="-1"/>
            <a:ext cx="1180795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3EFCC7-B7E8-4ABE-BBCB-C75FD27800CD}" type="datetime1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87636"/>
            <a:ext cx="7525512" cy="122612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7" y="640078"/>
            <a:ext cx="10690156" cy="4169666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42401474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0A1F3-DA5D-4F2E-B759-748FF8D0ACA9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0078" y="640078"/>
            <a:ext cx="8238746" cy="557368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000" b="1"/>
            </a:lvl1pPr>
            <a:lvl2pPr marL="228600" indent="0">
              <a:lnSpc>
                <a:spcPct val="100000"/>
              </a:lnSpc>
              <a:buNone/>
              <a:defRPr sz="40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888197"/>
            <a:ext cx="10652760" cy="7790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499288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B1322-4C31-4D1F-88B1-5F79F56892AE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0078" y="-841525"/>
            <a:ext cx="8238746" cy="59107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841257"/>
            <a:ext cx="9764686" cy="537250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1880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0078" y="640078"/>
            <a:ext cx="8238746" cy="557368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1247997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3012899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980CAA-82CE-AE1A-79D9-74B40375C465}"/>
              </a:ext>
            </a:extLst>
          </p:cNvPr>
          <p:cNvSpPr/>
          <p:nvPr userDrawn="1"/>
        </p:nvSpPr>
        <p:spPr>
          <a:xfrm>
            <a:off x="0" y="-1"/>
            <a:ext cx="1180795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247CA6-BC1D-429A-A289-4E939E49554A}" type="datetime1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3200" b="0"/>
            </a:lvl1pPr>
          </a:lstStyle>
          <a:p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29823345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418BD-2BA9-41CB-AB89-625779A7563D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0076" y="5669280"/>
            <a:ext cx="8933691" cy="544482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0078" y="1234440"/>
            <a:ext cx="8933690" cy="316992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1032494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066601" cy="43513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8" y="1825624"/>
            <a:ext cx="5066602" cy="43881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8" y="640078"/>
            <a:ext cx="10690153" cy="10408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363647"/>
      </p:ext>
    </p:extLst>
  </p:cSld>
  <p:clrMapOvr>
    <a:masterClrMapping/>
  </p:clrMapOvr>
  <p:hf hdr="0" ftr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CB42A-67CE-499B-A4FA-7D4E4469B142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28076" y="2387600"/>
            <a:ext cx="5010725" cy="382616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8076" y="1826185"/>
            <a:ext cx="5010727" cy="4193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8" y="2387600"/>
            <a:ext cx="5110276" cy="382616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6" y="1826185"/>
            <a:ext cx="5110277" cy="4193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6" y="640078"/>
            <a:ext cx="10690157" cy="10506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48198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182871"/>
      </p:ext>
    </p:extLst>
  </p:cSld>
  <p:clrMapOvr>
    <a:masterClrMapping/>
  </p:clrMapOvr>
  <p:hf hdr="0" ftr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F128-BAC7-4E0D-8F77-28A571D93B6F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98082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3260" y="640078"/>
            <a:ext cx="6195542" cy="557368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1800"/>
            </a:lvl4pPr>
            <a:lvl5pPr>
              <a:lnSpc>
                <a:spcPct val="100000"/>
              </a:lnSpc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7" y="2470245"/>
            <a:ext cx="3945971" cy="374351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2" y="640078"/>
            <a:ext cx="3945971" cy="1671043"/>
          </a:xfrm>
        </p:spPr>
        <p:txBody>
          <a:bodyPr anchor="t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325753"/>
      </p:ext>
    </p:extLst>
  </p:cSld>
  <p:clrMapOvr>
    <a:masterClrMapping/>
  </p:clrMapOvr>
  <p:hf hdr="0" ftr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71883" y="640079"/>
            <a:ext cx="6285582" cy="5573684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7344-9CC7-412D-8C20-072BE86D5A11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7" y="2826137"/>
            <a:ext cx="3879130" cy="3387625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107" y="640079"/>
            <a:ext cx="3879129" cy="202192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99388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0645BE-AC35-911F-0084-2CC2C836EB4D}"/>
              </a:ext>
            </a:extLst>
          </p:cNvPr>
          <p:cNvSpPr/>
          <p:nvPr userDrawn="1"/>
        </p:nvSpPr>
        <p:spPr>
          <a:xfrm>
            <a:off x="0" y="-1"/>
            <a:ext cx="1180795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7987AA-E4E6-4FC1-BAD8-09A952212C58}" type="datetime1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8" y="3594099"/>
            <a:ext cx="10690154" cy="261966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  <a:lvl2pPr marL="228600" indent="0">
              <a:lnSpc>
                <a:spcPct val="100000"/>
              </a:lnSpc>
              <a:buNone/>
              <a:defRPr/>
            </a:lvl2pPr>
            <a:lvl3pPr marL="457200" indent="0">
              <a:lnSpc>
                <a:spcPct val="100000"/>
              </a:lnSpc>
              <a:buNone/>
              <a:defRPr/>
            </a:lvl3pPr>
            <a:lvl4pPr marL="685800" indent="0">
              <a:lnSpc>
                <a:spcPct val="100000"/>
              </a:lnSpc>
              <a:buNone/>
              <a:defRPr/>
            </a:lvl4pPr>
            <a:lvl5pPr marL="914400" indent="0">
              <a:lnSpc>
                <a:spcPct val="100000"/>
              </a:lnSpc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8" y="1847088"/>
            <a:ext cx="7408336" cy="1133856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0447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07E2D40-0539-03CF-D61C-37822ABA17A8}"/>
              </a:ext>
            </a:extLst>
          </p:cNvPr>
          <p:cNvSpPr/>
          <p:nvPr userDrawn="1"/>
        </p:nvSpPr>
        <p:spPr>
          <a:xfrm>
            <a:off x="0" y="-1"/>
            <a:ext cx="1180795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3CF65F-0E21-48DE-8D75-4BF66A547E8E}" type="datetime1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7" y="3792262"/>
            <a:ext cx="8494767" cy="127961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  <a:lvl2pPr marL="228600" indent="0">
              <a:lnSpc>
                <a:spcPct val="100000"/>
              </a:lnSpc>
              <a:buNone/>
              <a:defRPr sz="2000"/>
            </a:lvl2pPr>
            <a:lvl3pPr marL="457200" indent="0">
              <a:lnSpc>
                <a:spcPct val="100000"/>
              </a:lnSpc>
              <a:buNone/>
              <a:defRPr sz="1800"/>
            </a:lvl3pPr>
            <a:lvl4pPr marL="685800" indent="0">
              <a:lnSpc>
                <a:spcPct val="100000"/>
              </a:lnSpc>
              <a:buNone/>
              <a:defRPr sz="1600"/>
            </a:lvl4pPr>
            <a:lvl5pPr marL="914400" indent="0">
              <a:lnSpc>
                <a:spcPct val="100000"/>
              </a:lnSpc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1627318"/>
            <a:ext cx="8494767" cy="1842020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7250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photo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46C58F9-5CE0-4282-46E0-3E3A700FDB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95412" y="653461"/>
            <a:ext cx="4597556" cy="5549900"/>
          </a:xfrm>
          <a:custGeom>
            <a:avLst/>
            <a:gdLst>
              <a:gd name="connsiteX0" fmla="*/ 2179508 w 4597556"/>
              <a:gd name="connsiteY0" fmla="*/ 0 h 5549900"/>
              <a:gd name="connsiteX1" fmla="*/ 4597556 w 4597556"/>
              <a:gd name="connsiteY1" fmla="*/ 0 h 5549900"/>
              <a:gd name="connsiteX2" fmla="*/ 4597556 w 4597556"/>
              <a:gd name="connsiteY2" fmla="*/ 2476634 h 5549900"/>
              <a:gd name="connsiteX3" fmla="*/ 4502141 w 4597556"/>
              <a:gd name="connsiteY3" fmla="*/ 2476634 h 5549900"/>
              <a:gd name="connsiteX4" fmla="*/ 4502141 w 4597556"/>
              <a:gd name="connsiteY4" fmla="*/ 4729244 h 5549900"/>
              <a:gd name="connsiteX5" fmla="*/ 4597556 w 4597556"/>
              <a:gd name="connsiteY5" fmla="*/ 4729244 h 5549900"/>
              <a:gd name="connsiteX6" fmla="*/ 4597556 w 4597556"/>
              <a:gd name="connsiteY6" fmla="*/ 5549900 h 5549900"/>
              <a:gd name="connsiteX7" fmla="*/ 0 w 4597556"/>
              <a:gd name="connsiteY7" fmla="*/ 5549900 h 5549900"/>
              <a:gd name="connsiteX8" fmla="*/ 0 w 4597556"/>
              <a:gd name="connsiteY8" fmla="*/ 1321566 h 5549900"/>
              <a:gd name="connsiteX9" fmla="*/ 2179508 w 4597556"/>
              <a:gd name="connsiteY9" fmla="*/ 1321566 h 554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7556" h="5549900">
                <a:moveTo>
                  <a:pt x="2179508" y="0"/>
                </a:moveTo>
                <a:lnTo>
                  <a:pt x="4597556" y="0"/>
                </a:lnTo>
                <a:lnTo>
                  <a:pt x="4597556" y="2476634"/>
                </a:lnTo>
                <a:lnTo>
                  <a:pt x="4502141" y="2476634"/>
                </a:lnTo>
                <a:lnTo>
                  <a:pt x="4502141" y="4729244"/>
                </a:lnTo>
                <a:lnTo>
                  <a:pt x="4597556" y="4729244"/>
                </a:lnTo>
                <a:lnTo>
                  <a:pt x="4597556" y="5549900"/>
                </a:lnTo>
                <a:lnTo>
                  <a:pt x="0" y="5549900"/>
                </a:lnTo>
                <a:lnTo>
                  <a:pt x="0" y="1321566"/>
                </a:lnTo>
                <a:lnTo>
                  <a:pt x="2179508" y="1321566"/>
                </a:lnTo>
                <a:close/>
              </a:path>
            </a:pathLst>
          </a:custGeo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80952A-DC24-8DFB-F8E3-1AAC5A9D5F6C}"/>
              </a:ext>
            </a:extLst>
          </p:cNvPr>
          <p:cNvSpPr/>
          <p:nvPr userDrawn="1"/>
        </p:nvSpPr>
        <p:spPr>
          <a:xfrm>
            <a:off x="11792373" y="0"/>
            <a:ext cx="40881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79D49B1-D905-CE2E-C062-AB1BDD014E8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 rot="16200000">
            <a:off x="11577948" y="230006"/>
            <a:ext cx="844062" cy="384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1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C8BC9-F44B-803F-5CD7-ADFC9673F03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9313725" y="3338288"/>
            <a:ext cx="5372505" cy="384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AA75D29-C079-E864-B363-40064D1938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 rot="16200000">
            <a:off x="11679259" y="6345258"/>
            <a:ext cx="641433" cy="3840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5BB9C8-B774-7D15-8251-AC8ED5B99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073" y="3130095"/>
            <a:ext cx="228928" cy="22526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BE262A-1515-660C-5ACF-699ADA35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1720" y="640080"/>
            <a:ext cx="2743200" cy="13349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96222" y="3127248"/>
            <a:ext cx="4533398" cy="3108960"/>
          </a:xfrm>
        </p:spPr>
        <p:txBody>
          <a:bodyPr lIns="91440" tIns="9144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 cap="none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6221" y="640080"/>
            <a:ext cx="4533398" cy="2157984"/>
          </a:xfrm>
        </p:spPr>
        <p:txBody>
          <a:bodyPr lIns="91440" tIns="91440" rIns="0" bIns="0" anchor="b">
            <a:noAutofit/>
          </a:bodyPr>
          <a:lstStyle>
            <a:lvl1pPr>
              <a:defRPr sz="32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73932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F02D30-CC17-F516-802A-A3AE633BF025}"/>
              </a:ext>
            </a:extLst>
          </p:cNvPr>
          <p:cNvSpPr/>
          <p:nvPr userDrawn="1"/>
        </p:nvSpPr>
        <p:spPr>
          <a:xfrm>
            <a:off x="0" y="0"/>
            <a:ext cx="4553712" cy="24323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FBA0098-0696-799B-78DA-DBE833190D5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2104" y="640080"/>
            <a:ext cx="4727448" cy="5559552"/>
          </a:xfrm>
          <a:custGeom>
            <a:avLst/>
            <a:gdLst>
              <a:gd name="connsiteX0" fmla="*/ 0 w 4727448"/>
              <a:gd name="connsiteY0" fmla="*/ 0 h 5559552"/>
              <a:gd name="connsiteX1" fmla="*/ 4727448 w 4727448"/>
              <a:gd name="connsiteY1" fmla="*/ 0 h 5559552"/>
              <a:gd name="connsiteX2" fmla="*/ 4727448 w 4727448"/>
              <a:gd name="connsiteY2" fmla="*/ 2500529 h 5559552"/>
              <a:gd name="connsiteX3" fmla="*/ 4596278 w 4727448"/>
              <a:gd name="connsiteY3" fmla="*/ 2513752 h 5559552"/>
              <a:gd name="connsiteX4" fmla="*/ 4071308 w 4727448"/>
              <a:gd name="connsiteY4" fmla="*/ 3157867 h 5559552"/>
              <a:gd name="connsiteX5" fmla="*/ 4596278 w 4727448"/>
              <a:gd name="connsiteY5" fmla="*/ 3801983 h 5559552"/>
              <a:gd name="connsiteX6" fmla="*/ 4727448 w 4727448"/>
              <a:gd name="connsiteY6" fmla="*/ 3815206 h 5559552"/>
              <a:gd name="connsiteX7" fmla="*/ 4727448 w 4727448"/>
              <a:gd name="connsiteY7" fmla="*/ 5559552 h 5559552"/>
              <a:gd name="connsiteX8" fmla="*/ 0 w 4727448"/>
              <a:gd name="connsiteY8" fmla="*/ 5559552 h 5559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27448" h="5559552">
                <a:moveTo>
                  <a:pt x="0" y="0"/>
                </a:moveTo>
                <a:lnTo>
                  <a:pt x="4727448" y="0"/>
                </a:lnTo>
                <a:lnTo>
                  <a:pt x="4727448" y="2500529"/>
                </a:lnTo>
                <a:lnTo>
                  <a:pt x="4596278" y="2513752"/>
                </a:lnTo>
                <a:cubicBezTo>
                  <a:pt x="4296678" y="2575059"/>
                  <a:pt x="4071308" y="2840144"/>
                  <a:pt x="4071308" y="3157867"/>
                </a:cubicBezTo>
                <a:cubicBezTo>
                  <a:pt x="4071308" y="3475590"/>
                  <a:pt x="4296678" y="3740676"/>
                  <a:pt x="4596278" y="3801983"/>
                </a:cubicBezTo>
                <a:lnTo>
                  <a:pt x="4727448" y="3815206"/>
                </a:lnTo>
                <a:lnTo>
                  <a:pt x="4727448" y="5559552"/>
                </a:lnTo>
                <a:lnTo>
                  <a:pt x="0" y="5559552"/>
                </a:lnTo>
                <a:close/>
              </a:path>
            </a:pathLst>
          </a:custGeo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DDC100-1ACB-74B7-3CAE-F0DD05CBE963}"/>
              </a:ext>
            </a:extLst>
          </p:cNvPr>
          <p:cNvSpPr/>
          <p:nvPr userDrawn="1"/>
        </p:nvSpPr>
        <p:spPr>
          <a:xfrm>
            <a:off x="4903412" y="3140474"/>
            <a:ext cx="1314946" cy="13149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C7566-C08A-6609-9FDF-AAFB5486D6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77948" y="230006"/>
            <a:ext cx="844062" cy="384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1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F4BAE-32D2-0950-CD30-3DC3084BBE5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9313725" y="3338288"/>
            <a:ext cx="5372505" cy="384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8AA1005-37B1-E8E2-5040-5D847E1FC4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 rot="16200000">
            <a:off x="11679259" y="6345258"/>
            <a:ext cx="641433" cy="3840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93407" y="2355925"/>
            <a:ext cx="4545393" cy="3843707"/>
          </a:xfrm>
        </p:spPr>
        <p:txBody>
          <a:bodyPr lIns="91440" tIns="9144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993F1580-C478-6F3E-90EC-651483EF7B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3408" y="640080"/>
            <a:ext cx="4545395" cy="1403873"/>
          </a:xfrm>
        </p:spPr>
        <p:txBody>
          <a:bodyPr lIns="91440" tIns="0" rIns="0" bIns="0" anchor="b">
            <a:noAutofit/>
          </a:bodyPr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6076019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number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2">
            <a:extLst>
              <a:ext uri="{FF2B5EF4-FFF2-40B4-BE49-F238E27FC236}">
                <a16:creationId xmlns:a16="http://schemas.microsoft.com/office/drawing/2014/main" id="{FA618DAB-55E2-19CE-F259-9FB708A90B63}"/>
              </a:ext>
            </a:extLst>
          </p:cNvPr>
          <p:cNvSpPr/>
          <p:nvPr/>
        </p:nvSpPr>
        <p:spPr>
          <a:xfrm>
            <a:off x="1959756" y="0"/>
            <a:ext cx="8272488" cy="6858000"/>
          </a:xfrm>
          <a:custGeom>
            <a:avLst/>
            <a:gdLst>
              <a:gd name="connsiteX0" fmla="*/ 2449074 w 8272488"/>
              <a:gd name="connsiteY0" fmla="*/ 0 h 6858000"/>
              <a:gd name="connsiteX1" fmla="*/ 5823415 w 8272488"/>
              <a:gd name="connsiteY1" fmla="*/ 0 h 6858000"/>
              <a:gd name="connsiteX2" fmla="*/ 5929477 w 8272488"/>
              <a:gd name="connsiteY2" fmla="*/ 47950 h 6858000"/>
              <a:gd name="connsiteX3" fmla="*/ 8272488 w 8272488"/>
              <a:gd name="connsiteY3" fmla="*/ 3776315 h 6858000"/>
              <a:gd name="connsiteX4" fmla="*/ 7025715 w 8272488"/>
              <a:gd name="connsiteY4" fmla="*/ 6735959 h 6858000"/>
              <a:gd name="connsiteX5" fmla="*/ 6893036 w 8272488"/>
              <a:gd name="connsiteY5" fmla="*/ 6858000 h 6858000"/>
              <a:gd name="connsiteX6" fmla="*/ 1379452 w 8272488"/>
              <a:gd name="connsiteY6" fmla="*/ 6858000 h 6858000"/>
              <a:gd name="connsiteX7" fmla="*/ 1246773 w 8272488"/>
              <a:gd name="connsiteY7" fmla="*/ 6735959 h 6858000"/>
              <a:gd name="connsiteX8" fmla="*/ 0 w 8272488"/>
              <a:gd name="connsiteY8" fmla="*/ 3776315 h 6858000"/>
              <a:gd name="connsiteX9" fmla="*/ 2343012 w 8272488"/>
              <a:gd name="connsiteY9" fmla="*/ 479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72488" h="6858000">
                <a:moveTo>
                  <a:pt x="2449074" y="0"/>
                </a:moveTo>
                <a:lnTo>
                  <a:pt x="5823415" y="0"/>
                </a:lnTo>
                <a:lnTo>
                  <a:pt x="5929477" y="47950"/>
                </a:lnTo>
                <a:cubicBezTo>
                  <a:pt x="7315814" y="715956"/>
                  <a:pt x="8272488" y="2134414"/>
                  <a:pt x="8272488" y="3776315"/>
                </a:cubicBezTo>
                <a:cubicBezTo>
                  <a:pt x="8272488" y="4936354"/>
                  <a:pt x="7794942" y="5984857"/>
                  <a:pt x="7025715" y="6735959"/>
                </a:cubicBezTo>
                <a:lnTo>
                  <a:pt x="6893036" y="6858000"/>
                </a:lnTo>
                <a:lnTo>
                  <a:pt x="1379452" y="6858000"/>
                </a:lnTo>
                <a:lnTo>
                  <a:pt x="1246773" y="6735959"/>
                </a:lnTo>
                <a:cubicBezTo>
                  <a:pt x="477546" y="5984857"/>
                  <a:pt x="0" y="4936354"/>
                  <a:pt x="0" y="3776315"/>
                </a:cubicBezTo>
                <a:cubicBezTo>
                  <a:pt x="0" y="2134414"/>
                  <a:pt x="956674" y="715956"/>
                  <a:pt x="2343012" y="479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70796A4-60C9-8766-B669-134765EE1C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"/>
            <a:ext cx="12192000" cy="6857999"/>
          </a:xfrm>
          <a:custGeom>
            <a:avLst/>
            <a:gdLst>
              <a:gd name="connsiteX0" fmla="*/ 7783170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6857999 h 6857999"/>
              <a:gd name="connsiteX3" fmla="*/ 8852792 w 12192000"/>
              <a:gd name="connsiteY3" fmla="*/ 6857999 h 6857999"/>
              <a:gd name="connsiteX4" fmla="*/ 8985470 w 12192000"/>
              <a:gd name="connsiteY4" fmla="*/ 6735959 h 6857999"/>
              <a:gd name="connsiteX5" fmla="*/ 10232243 w 12192000"/>
              <a:gd name="connsiteY5" fmla="*/ 3776315 h 6857999"/>
              <a:gd name="connsiteX6" fmla="*/ 7889232 w 12192000"/>
              <a:gd name="connsiteY6" fmla="*/ 47950 h 6857999"/>
              <a:gd name="connsiteX7" fmla="*/ 0 w 12192000"/>
              <a:gd name="connsiteY7" fmla="*/ 0 h 6857999"/>
              <a:gd name="connsiteX8" fmla="*/ 4408830 w 12192000"/>
              <a:gd name="connsiteY8" fmla="*/ 0 h 6857999"/>
              <a:gd name="connsiteX9" fmla="*/ 4302768 w 12192000"/>
              <a:gd name="connsiteY9" fmla="*/ 47950 h 6857999"/>
              <a:gd name="connsiteX10" fmla="*/ 1959755 w 12192000"/>
              <a:gd name="connsiteY10" fmla="*/ 3776315 h 6857999"/>
              <a:gd name="connsiteX11" fmla="*/ 3206528 w 12192000"/>
              <a:gd name="connsiteY11" fmla="*/ 6735959 h 6857999"/>
              <a:gd name="connsiteX12" fmla="*/ 3339206 w 12192000"/>
              <a:gd name="connsiteY12" fmla="*/ 6857999 h 6857999"/>
              <a:gd name="connsiteX13" fmla="*/ 0 w 12192000"/>
              <a:gd name="connsiteY1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7999">
                <a:moveTo>
                  <a:pt x="778317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8852792" y="6857999"/>
                </a:lnTo>
                <a:lnTo>
                  <a:pt x="8985470" y="6735959"/>
                </a:lnTo>
                <a:cubicBezTo>
                  <a:pt x="9754697" y="5984857"/>
                  <a:pt x="10232243" y="4936354"/>
                  <a:pt x="10232243" y="3776315"/>
                </a:cubicBezTo>
                <a:cubicBezTo>
                  <a:pt x="10232243" y="2134414"/>
                  <a:pt x="9275569" y="715956"/>
                  <a:pt x="7889232" y="47950"/>
                </a:cubicBezTo>
                <a:close/>
                <a:moveTo>
                  <a:pt x="0" y="0"/>
                </a:moveTo>
                <a:lnTo>
                  <a:pt x="4408830" y="0"/>
                </a:lnTo>
                <a:lnTo>
                  <a:pt x="4302768" y="47950"/>
                </a:lnTo>
                <a:cubicBezTo>
                  <a:pt x="2916429" y="715956"/>
                  <a:pt x="1959755" y="2134414"/>
                  <a:pt x="1959755" y="3776315"/>
                </a:cubicBezTo>
                <a:cubicBezTo>
                  <a:pt x="1959755" y="4936354"/>
                  <a:pt x="2437301" y="5984857"/>
                  <a:pt x="3206528" y="6735959"/>
                </a:cubicBezTo>
                <a:lnTo>
                  <a:pt x="3339206" y="6857999"/>
                </a:lnTo>
                <a:lnTo>
                  <a:pt x="0" y="6857999"/>
                </a:lnTo>
                <a:close/>
              </a:path>
            </a:pathLst>
          </a:custGeo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3914349-C0B8-28DF-90F8-5E6D083FE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98642" y="5313785"/>
            <a:ext cx="4394716" cy="764778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93AC60-CD84-E768-28B4-375CFF0970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367" y="1161826"/>
            <a:ext cx="6969267" cy="3808207"/>
          </a:xfrm>
        </p:spPr>
        <p:txBody>
          <a:bodyPr lIns="0" tIns="0" rIns="0" bIns="0" anchor="b">
            <a:noAutofit/>
          </a:bodyPr>
          <a:lstStyle>
            <a:lvl1pPr algn="ctr">
              <a:defRPr sz="20000" b="1" i="0" baseline="0">
                <a:solidFill>
                  <a:schemeClr val="tx1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8869612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EFFF036-D459-D142-290E-9C1B19A242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159126"/>
            <a:ext cx="4577463" cy="3698875"/>
          </a:xfrm>
          <a:custGeom>
            <a:avLst/>
            <a:gdLst>
              <a:gd name="connsiteX0" fmla="*/ 1934275 w 4577463"/>
              <a:gd name="connsiteY0" fmla="*/ 0 h 3698875"/>
              <a:gd name="connsiteX1" fmla="*/ 4577463 w 4577463"/>
              <a:gd name="connsiteY1" fmla="*/ 2643188 h 3698875"/>
              <a:gd name="connsiteX2" fmla="*/ 4369748 w 4577463"/>
              <a:gd name="connsiteY2" fmla="*/ 3672036 h 3698875"/>
              <a:gd name="connsiteX3" fmla="*/ 4356819 w 4577463"/>
              <a:gd name="connsiteY3" fmla="*/ 3698875 h 3698875"/>
              <a:gd name="connsiteX4" fmla="*/ 0 w 4577463"/>
              <a:gd name="connsiteY4" fmla="*/ 3698875 h 3698875"/>
              <a:gd name="connsiteX5" fmla="*/ 0 w 4577463"/>
              <a:gd name="connsiteY5" fmla="*/ 845097 h 3698875"/>
              <a:gd name="connsiteX6" fmla="*/ 87814 w 4577463"/>
              <a:gd name="connsiteY6" fmla="*/ 751885 h 3698875"/>
              <a:gd name="connsiteX7" fmla="*/ 274474 w 4577463"/>
              <a:gd name="connsiteY7" fmla="*/ 586012 h 3698875"/>
              <a:gd name="connsiteX8" fmla="*/ 363537 w 4577463"/>
              <a:gd name="connsiteY8" fmla="*/ 520753 h 3698875"/>
              <a:gd name="connsiteX9" fmla="*/ 391698 w 4577463"/>
              <a:gd name="connsiteY9" fmla="*/ 572636 h 3698875"/>
              <a:gd name="connsiteX10" fmla="*/ 927495 w 4577463"/>
              <a:gd name="connsiteY10" fmla="*/ 857517 h 3698875"/>
              <a:gd name="connsiteX11" fmla="*/ 1573644 w 4577463"/>
              <a:gd name="connsiteY11" fmla="*/ 211368 h 3698875"/>
              <a:gd name="connsiteX12" fmla="*/ 1560517 w 4577463"/>
              <a:gd name="connsiteY12" fmla="*/ 81147 h 3698875"/>
              <a:gd name="connsiteX13" fmla="*/ 1545169 w 4577463"/>
              <a:gd name="connsiteY13" fmla="*/ 31706 h 3698875"/>
              <a:gd name="connsiteX14" fmla="*/ 1668191 w 4577463"/>
              <a:gd name="connsiteY14" fmla="*/ 13227 h 3698875"/>
              <a:gd name="connsiteX15" fmla="*/ 1934275 w 4577463"/>
              <a:gd name="connsiteY15" fmla="*/ 0 h 3698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577463" h="3698875">
                <a:moveTo>
                  <a:pt x="1934275" y="0"/>
                </a:moveTo>
                <a:cubicBezTo>
                  <a:pt x="3394067" y="0"/>
                  <a:pt x="4577463" y="1183396"/>
                  <a:pt x="4577463" y="2643188"/>
                </a:cubicBezTo>
                <a:cubicBezTo>
                  <a:pt x="4577463" y="3008136"/>
                  <a:pt x="4503501" y="3355810"/>
                  <a:pt x="4369748" y="3672036"/>
                </a:cubicBezTo>
                <a:lnTo>
                  <a:pt x="4356819" y="3698875"/>
                </a:lnTo>
                <a:lnTo>
                  <a:pt x="0" y="3698875"/>
                </a:lnTo>
                <a:lnTo>
                  <a:pt x="0" y="845097"/>
                </a:lnTo>
                <a:lnTo>
                  <a:pt x="87814" y="751885"/>
                </a:lnTo>
                <a:cubicBezTo>
                  <a:pt x="147368" y="693734"/>
                  <a:pt x="209659" y="638373"/>
                  <a:pt x="274474" y="586012"/>
                </a:cubicBezTo>
                <a:lnTo>
                  <a:pt x="363537" y="520753"/>
                </a:lnTo>
                <a:lnTo>
                  <a:pt x="391698" y="572636"/>
                </a:lnTo>
                <a:cubicBezTo>
                  <a:pt x="507816" y="744513"/>
                  <a:pt x="704459" y="857517"/>
                  <a:pt x="927495" y="857517"/>
                </a:cubicBezTo>
                <a:cubicBezTo>
                  <a:pt x="1284353" y="857517"/>
                  <a:pt x="1573644" y="568226"/>
                  <a:pt x="1573644" y="211368"/>
                </a:cubicBezTo>
                <a:cubicBezTo>
                  <a:pt x="1573644" y="166761"/>
                  <a:pt x="1569124" y="123209"/>
                  <a:pt x="1560517" y="81147"/>
                </a:cubicBezTo>
                <a:lnTo>
                  <a:pt x="1545169" y="31706"/>
                </a:lnTo>
                <a:lnTo>
                  <a:pt x="1668191" y="13227"/>
                </a:lnTo>
                <a:cubicBezTo>
                  <a:pt x="1755699" y="4480"/>
                  <a:pt x="1844464" y="0"/>
                  <a:pt x="1934275" y="0"/>
                </a:cubicBezTo>
                <a:close/>
              </a:path>
            </a:pathLst>
          </a:custGeo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7F89ECF-F048-57F5-57EF-0CAB335C2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1346" y="2724345"/>
            <a:ext cx="1292298" cy="129229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D4ABEAE2-DE31-12F1-AAD1-82AEE3737D0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16200000">
            <a:off x="11577948" y="230006"/>
            <a:ext cx="844062" cy="384047"/>
          </a:xfrm>
        </p:spPr>
        <p:txBody>
          <a:bodyPr/>
          <a:lstStyle/>
          <a:p>
            <a:fld id="{3D157344-9CC7-412D-8C20-072BE86D5A11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4B56E-067D-C824-6EEB-3CCE57E4B5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DB247-3AE7-BCCA-E0CC-BC0FD69A7E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218D7EE8-EBB2-8592-C06C-14CF0BA0260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434828" y="640077"/>
            <a:ext cx="5783472" cy="5573685"/>
          </a:xfrm>
        </p:spPr>
        <p:txBody>
          <a:bodyPr lIns="91440" tIns="9144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44AB011-4A5C-6D4B-BB9B-30BA419374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8" y="640078"/>
            <a:ext cx="4317028" cy="2084268"/>
          </a:xfrm>
        </p:spPr>
        <p:txBody>
          <a:bodyPr lIns="91440" tIns="91440" rIns="0" bIns="0">
            <a:noAutofit/>
          </a:bodyPr>
          <a:lstStyle>
            <a:lvl1pPr>
              <a:defRPr sz="3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642192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041D3CD-4172-159B-50BA-195FCCAE119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" y="0"/>
            <a:ext cx="4089921" cy="4639206"/>
          </a:xfrm>
          <a:custGeom>
            <a:avLst/>
            <a:gdLst>
              <a:gd name="connsiteX0" fmla="*/ 0 w 4089921"/>
              <a:gd name="connsiteY0" fmla="*/ 0 h 4639206"/>
              <a:gd name="connsiteX1" fmla="*/ 3216644 w 4089921"/>
              <a:gd name="connsiteY1" fmla="*/ 0 h 4639206"/>
              <a:gd name="connsiteX2" fmla="*/ 3308243 w 4089921"/>
              <a:gd name="connsiteY2" fmla="*/ 83250 h 4639206"/>
              <a:gd name="connsiteX3" fmla="*/ 4089921 w 4089921"/>
              <a:gd name="connsiteY3" fmla="*/ 1970389 h 4639206"/>
              <a:gd name="connsiteX4" fmla="*/ 3308243 w 4089921"/>
              <a:gd name="connsiteY4" fmla="*/ 3857528 h 4639206"/>
              <a:gd name="connsiteX5" fmla="*/ 3279358 w 4089921"/>
              <a:gd name="connsiteY5" fmla="*/ 3883780 h 4639206"/>
              <a:gd name="connsiteX6" fmla="*/ 3254520 w 4089921"/>
              <a:gd name="connsiteY6" fmla="*/ 3853677 h 4639206"/>
              <a:gd name="connsiteX7" fmla="*/ 2797624 w 4089921"/>
              <a:gd name="connsiteY7" fmla="*/ 3664424 h 4639206"/>
              <a:gd name="connsiteX8" fmla="*/ 2151475 w 4089921"/>
              <a:gd name="connsiteY8" fmla="*/ 4310573 h 4639206"/>
              <a:gd name="connsiteX9" fmla="*/ 2164603 w 4089921"/>
              <a:gd name="connsiteY9" fmla="*/ 4440795 h 4639206"/>
              <a:gd name="connsiteX10" fmla="*/ 2190853 w 4089921"/>
              <a:gd name="connsiteY10" fmla="*/ 4525361 h 4639206"/>
              <a:gd name="connsiteX11" fmla="*/ 1958964 w 4089921"/>
              <a:gd name="connsiteY11" fmla="*/ 4584985 h 4639206"/>
              <a:gd name="connsiteX12" fmla="*/ 1421104 w 4089921"/>
              <a:gd name="connsiteY12" fmla="*/ 4639206 h 4639206"/>
              <a:gd name="connsiteX13" fmla="*/ 148987 w 4089921"/>
              <a:gd name="connsiteY13" fmla="*/ 4317094 h 4639206"/>
              <a:gd name="connsiteX14" fmla="*/ 0 w 4089921"/>
              <a:gd name="connsiteY14" fmla="*/ 4226582 h 4639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89921" h="4639206">
                <a:moveTo>
                  <a:pt x="0" y="0"/>
                </a:moveTo>
                <a:lnTo>
                  <a:pt x="3216644" y="0"/>
                </a:lnTo>
                <a:lnTo>
                  <a:pt x="3308243" y="83250"/>
                </a:lnTo>
                <a:cubicBezTo>
                  <a:pt x="3791204" y="566211"/>
                  <a:pt x="4089921" y="1233416"/>
                  <a:pt x="4089921" y="1970389"/>
                </a:cubicBezTo>
                <a:cubicBezTo>
                  <a:pt x="4089921" y="2707363"/>
                  <a:pt x="3791204" y="3374567"/>
                  <a:pt x="3308243" y="3857528"/>
                </a:cubicBezTo>
                <a:lnTo>
                  <a:pt x="3279358" y="3883780"/>
                </a:lnTo>
                <a:lnTo>
                  <a:pt x="3254520" y="3853677"/>
                </a:lnTo>
                <a:cubicBezTo>
                  <a:pt x="3137590" y="3736747"/>
                  <a:pt x="2976053" y="3664424"/>
                  <a:pt x="2797624" y="3664424"/>
                </a:cubicBezTo>
                <a:cubicBezTo>
                  <a:pt x="2440766" y="3664424"/>
                  <a:pt x="2151475" y="3953715"/>
                  <a:pt x="2151475" y="4310573"/>
                </a:cubicBezTo>
                <a:cubicBezTo>
                  <a:pt x="2151475" y="4355180"/>
                  <a:pt x="2155995" y="4398732"/>
                  <a:pt x="2164603" y="4440795"/>
                </a:cubicBezTo>
                <a:lnTo>
                  <a:pt x="2190853" y="4525361"/>
                </a:lnTo>
                <a:lnTo>
                  <a:pt x="1958964" y="4584985"/>
                </a:lnTo>
                <a:cubicBezTo>
                  <a:pt x="1785230" y="4620536"/>
                  <a:pt x="1605347" y="4639206"/>
                  <a:pt x="1421104" y="4639206"/>
                </a:cubicBezTo>
                <a:cubicBezTo>
                  <a:pt x="960496" y="4639206"/>
                  <a:pt x="527141" y="4522520"/>
                  <a:pt x="148987" y="4317094"/>
                </a:cubicBezTo>
                <a:lnTo>
                  <a:pt x="0" y="4226582"/>
                </a:lnTo>
                <a:close/>
              </a:path>
            </a:pathLst>
          </a:custGeo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CA47180-C126-D9FC-1291-43F1766DE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151476" y="3664424"/>
            <a:ext cx="1292298" cy="129229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D4ABEAE2-DE31-12F1-AAD1-82AEE3737D0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16200000">
            <a:off x="11577948" y="230006"/>
            <a:ext cx="844062" cy="384047"/>
          </a:xfrm>
        </p:spPr>
        <p:txBody>
          <a:bodyPr/>
          <a:lstStyle/>
          <a:p>
            <a:fld id="{3D157344-9CC7-412D-8C20-072BE86D5A11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4B56E-067D-C824-6EEB-3CCE57E4B5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DB247-3AE7-BCCA-E0CC-BC0FD69A7E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218D7EE8-EBB2-8592-C06C-14CF0BA0260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79577" y="5142155"/>
            <a:ext cx="6538723" cy="1071607"/>
          </a:xfrm>
        </p:spPr>
        <p:txBody>
          <a:bodyPr lIns="91440" tIns="9144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44AB011-4A5C-6D4B-BB9B-30BA419374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9577" y="640078"/>
            <a:ext cx="6538722" cy="4179348"/>
          </a:xfrm>
        </p:spPr>
        <p:txBody>
          <a:bodyPr lIns="91440" tIns="0" rIns="0" bIns="0" anchor="b">
            <a:noAutofit/>
          </a:bodyPr>
          <a:lstStyle>
            <a:lvl1pPr>
              <a:defRPr sz="20000" baseline="0"/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625080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688C66-2A77-64CD-38B5-90492185CACE}"/>
              </a:ext>
            </a:extLst>
          </p:cNvPr>
          <p:cNvSpPr/>
          <p:nvPr/>
        </p:nvSpPr>
        <p:spPr>
          <a:xfrm rot="5400000" flipH="1" flipV="1">
            <a:off x="8570975" y="3236976"/>
            <a:ext cx="6858000" cy="384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DCDB3F9-C083-E428-E97B-C0CC63BC0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11577948" y="230006"/>
            <a:ext cx="844062" cy="3840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291CE83-67BA-4B15-B48A-7DC5C0636664}" type="datetime1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9035839-CD36-5568-9808-CCDD9953C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9313725" y="3338288"/>
            <a:ext cx="5372505" cy="384047"/>
          </a:xfrm>
          <a:prstGeom prst="rect">
            <a:avLst/>
          </a:prstGeom>
          <a:noFill/>
        </p:spPr>
        <p:txBody>
          <a:bodyPr vert="horz" lIns="210312" tIns="45720" rIns="91440" bIns="45720" rtlCol="0" anchor="ctr"/>
          <a:lstStyle>
            <a:lvl1pPr algn="l">
              <a:defRPr sz="1200" b="1" cap="all" spc="3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3E5E79-C396-3919-759D-5AD893CE4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679259" y="6345258"/>
            <a:ext cx="641433" cy="384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490" y="2220977"/>
            <a:ext cx="10953964" cy="3955986"/>
          </a:xfrm>
          <a:prstGeom prst="rect">
            <a:avLst/>
          </a:prstGeom>
        </p:spPr>
        <p:txBody>
          <a:bodyPr vert="horz" lIns="9144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58" y="640080"/>
            <a:ext cx="10953964" cy="1095059"/>
          </a:xfrm>
          <a:prstGeom prst="rect">
            <a:avLst/>
          </a:prstGeom>
        </p:spPr>
        <p:txBody>
          <a:bodyPr vert="horz" lIns="91440" tIns="9144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731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81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  <p:sldLayoutId id="2147483747" r:id="rId18"/>
    <p:sldLayoutId id="2147483748" r:id="rId19"/>
    <p:sldLayoutId id="2147483749" r:id="rId20"/>
    <p:sldLayoutId id="2147483750" r:id="rId21"/>
    <p:sldLayoutId id="2147483751" r:id="rId22"/>
    <p:sldLayoutId id="2147483752" r:id="rId23"/>
    <p:sldLayoutId id="2147483753" r:id="rId24"/>
    <p:sldLayoutId id="2147483754" r:id="rId25"/>
    <p:sldLayoutId id="2147483755" r:id="rId26"/>
    <p:sldLayoutId id="2147483756" r:id="rId27"/>
    <p:sldLayoutId id="2147483757" r:id="rId28"/>
    <p:sldLayoutId id="2147483758" r:id="rId29"/>
    <p:sldLayoutId id="2147483759" r:id="rId30"/>
    <p:sldLayoutId id="2147483760" r:id="rId31"/>
    <p:sldLayoutId id="2147483761" r:id="rId32"/>
    <p:sldLayoutId id="2147483762" r:id="rId33"/>
    <p:sldLayoutId id="2147483763" r:id="rId34"/>
    <p:sldLayoutId id="2147483764" r:id="rId35"/>
    <p:sldLayoutId id="2147483765" r:id="rId36"/>
    <p:sldLayoutId id="2147483766" r:id="rId37"/>
    <p:sldLayoutId id="2147483767" r:id="rId38"/>
    <p:sldLayoutId id="2147483768" r:id="rId39"/>
    <p:sldLayoutId id="2147483769" r:id="rId40"/>
    <p:sldLayoutId id="2147483770" r:id="rId41"/>
    <p:sldLayoutId id="2147483771" r:id="rId42"/>
    <p:sldLayoutId id="2147483772" r:id="rId43"/>
    <p:sldLayoutId id="2147483773" r:id="rId44"/>
    <p:sldLayoutId id="2147483774" r:id="rId45"/>
    <p:sldLayoutId id="2147483775" r:id="rId46"/>
    <p:sldLayoutId id="2147483776" r:id="rId47"/>
    <p:sldLayoutId id="2147483777" r:id="rId48"/>
    <p:sldLayoutId id="2147483778" r:id="rId49"/>
    <p:sldLayoutId id="2147483779" r:id="rId50"/>
    <p:sldLayoutId id="2147483780" r:id="rId51"/>
    <p:sldLayoutId id="2147483782" r:id="rId52"/>
    <p:sldLayoutId id="2147483783" r:id="rId53"/>
    <p:sldLayoutId id="2147483784" r:id="rId54"/>
    <p:sldLayoutId id="2147483785" r:id="rId55"/>
    <p:sldLayoutId id="2147483786" r:id="rId5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cap="all" spc="600" baseline="0">
          <a:solidFill>
            <a:schemeClr val="tx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buFontTx/>
        <a:buNone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2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6" orient="horz" pos="2160" userDrawn="1">
          <p15:clr>
            <a:srgbClr val="A4A3A4"/>
          </p15:clr>
        </p15:guide>
        <p15:guide id="27" orient="horz" pos="1152" userDrawn="1">
          <p15:clr>
            <a:srgbClr val="547EBF"/>
          </p15:clr>
        </p15:guide>
        <p15:guide id="28" pos="7440" userDrawn="1">
          <p15:clr>
            <a:srgbClr val="547EBF"/>
          </p15:clr>
        </p15:guide>
        <p15:guide id="29" orient="horz" pos="4080" userDrawn="1">
          <p15:clr>
            <a:srgbClr val="547EBF"/>
          </p15:clr>
        </p15:guide>
        <p15:guide id="30" userDrawn="1">
          <p15:clr>
            <a:srgbClr val="547EBF"/>
          </p15:clr>
        </p15:guide>
        <p15:guide id="31" pos="7680" userDrawn="1">
          <p15:clr>
            <a:srgbClr val="547EBF"/>
          </p15:clr>
        </p15:guide>
        <p15:guide id="32" pos="528" userDrawn="1">
          <p15:clr>
            <a:srgbClr val="547EBF"/>
          </p15:clr>
        </p15:guide>
        <p15:guide id="33" pos="6912" userDrawn="1">
          <p15:clr>
            <a:srgbClr val="547EBF"/>
          </p15:clr>
        </p15:guide>
        <p15:guide id="34" orient="horz" pos="240" userDrawn="1">
          <p15:clr>
            <a:srgbClr val="547EBF"/>
          </p15:clr>
        </p15:guide>
        <p15:guide id="35" orient="horz" pos="552" userDrawn="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5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5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5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C5300-AC43-F396-6E83-73A31578C2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8" y="417444"/>
            <a:ext cx="5091864" cy="4890965"/>
          </a:xfrm>
        </p:spPr>
        <p:txBody>
          <a:bodyPr anchor="b"/>
          <a:lstStyle/>
          <a:p>
            <a:r>
              <a:rPr lang="en-US" dirty="0" err="1"/>
              <a:t>cPU</a:t>
            </a:r>
            <a:r>
              <a:rPr lang="en-US" dirty="0"/>
              <a:t> vs </a:t>
            </a:r>
            <a:r>
              <a:rPr lang="en-US" dirty="0" err="1"/>
              <a:t>gpu</a:t>
            </a:r>
            <a:r>
              <a:rPr lang="en-US" dirty="0"/>
              <a:t> on quantized transformer inference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BE460-3185-CD59-0215-356A228DF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8" y="5557298"/>
            <a:ext cx="5091864" cy="883258"/>
          </a:xfrm>
        </p:spPr>
        <p:txBody>
          <a:bodyPr/>
          <a:lstStyle/>
          <a:p>
            <a:r>
              <a:rPr lang="en-US" dirty="0"/>
              <a:t>Kabeer Ali</a:t>
            </a:r>
          </a:p>
          <a:p>
            <a:r>
              <a:rPr lang="en-US" dirty="0"/>
              <a:t>Muneeb Lone</a:t>
            </a:r>
          </a:p>
        </p:txBody>
      </p:sp>
      <p:pic>
        <p:nvPicPr>
          <p:cNvPr id="8" name="Picture Placeholder 7" descr="Low angle view of a building">
            <a:extLst>
              <a:ext uri="{FF2B5EF4-FFF2-40B4-BE49-F238E27FC236}">
                <a16:creationId xmlns:a16="http://schemas.microsoft.com/office/drawing/2014/main" id="{67D960B2-8A54-F8C8-80BB-D238AE8EBA30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0"/>
            <a:ext cx="6096000" cy="6858000"/>
          </a:xfr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FF45C2C0-54FA-3BF9-54A1-71B2FE171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5796354" y="0"/>
            <a:ext cx="3179653" cy="1801715"/>
          </a:xfrm>
          <a:custGeom>
            <a:avLst/>
            <a:gdLst>
              <a:gd name="connsiteX0" fmla="*/ 2394161 w 4788322"/>
              <a:gd name="connsiteY0" fmla="*/ 0 h 2713249"/>
              <a:gd name="connsiteX1" fmla="*/ 4788322 w 4788322"/>
              <a:gd name="connsiteY1" fmla="*/ 2394161 h 2713249"/>
              <a:gd name="connsiteX2" fmla="*/ 4775962 w 4788322"/>
              <a:gd name="connsiteY2" fmla="*/ 2638950 h 2713249"/>
              <a:gd name="connsiteX3" fmla="*/ 4764622 w 4788322"/>
              <a:gd name="connsiteY3" fmla="*/ 2713249 h 2713249"/>
              <a:gd name="connsiteX4" fmla="*/ 23700 w 4788322"/>
              <a:gd name="connsiteY4" fmla="*/ 2713249 h 2713249"/>
              <a:gd name="connsiteX5" fmla="*/ 12361 w 4788322"/>
              <a:gd name="connsiteY5" fmla="*/ 2638950 h 2713249"/>
              <a:gd name="connsiteX6" fmla="*/ 0 w 4788322"/>
              <a:gd name="connsiteY6" fmla="*/ 2394161 h 2713249"/>
              <a:gd name="connsiteX7" fmla="*/ 2394161 w 4788322"/>
              <a:gd name="connsiteY7" fmla="*/ 0 h 2713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88322" h="2713249">
                <a:moveTo>
                  <a:pt x="2394161" y="0"/>
                </a:moveTo>
                <a:cubicBezTo>
                  <a:pt x="3716420" y="0"/>
                  <a:pt x="4788322" y="1071902"/>
                  <a:pt x="4788322" y="2394161"/>
                </a:cubicBezTo>
                <a:cubicBezTo>
                  <a:pt x="4788322" y="2476803"/>
                  <a:pt x="4784135" y="2558466"/>
                  <a:pt x="4775962" y="2638950"/>
                </a:cubicBezTo>
                <a:lnTo>
                  <a:pt x="4764622" y="2713249"/>
                </a:lnTo>
                <a:lnTo>
                  <a:pt x="23700" y="2713249"/>
                </a:lnTo>
                <a:lnTo>
                  <a:pt x="12361" y="2638950"/>
                </a:lnTo>
                <a:cubicBezTo>
                  <a:pt x="4187" y="2558466"/>
                  <a:pt x="0" y="2476803"/>
                  <a:pt x="0" y="2394161"/>
                </a:cubicBezTo>
                <a:cubicBezTo>
                  <a:pt x="0" y="1071902"/>
                  <a:pt x="1071902" y="0"/>
                  <a:pt x="2394161" y="0"/>
                </a:cubicBez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488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D4493-076B-646C-632C-C4850D176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221" y="649372"/>
            <a:ext cx="4867934" cy="2148692"/>
          </a:xfrm>
        </p:spPr>
        <p:txBody>
          <a:bodyPr/>
          <a:lstStyle/>
          <a:p>
            <a:r>
              <a:rPr lang="en-US" dirty="0"/>
              <a:t>Presented to</a:t>
            </a:r>
          </a:p>
        </p:txBody>
      </p:sp>
      <p:pic>
        <p:nvPicPr>
          <p:cNvPr id="8" name="Picture Placeholder 7" descr="A close-up of a building">
            <a:extLst>
              <a:ext uri="{FF2B5EF4-FFF2-40B4-BE49-F238E27FC236}">
                <a16:creationId xmlns:a16="http://schemas.microsoft.com/office/drawing/2014/main" id="{ADCDD24D-5443-EB78-6473-95B483219A6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95412" y="653461"/>
            <a:ext cx="4597556" cy="55499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84734-115E-C400-33C5-37064FF17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6222" y="3127248"/>
            <a:ext cx="4533398" cy="3108960"/>
          </a:xfrm>
        </p:spPr>
        <p:txBody>
          <a:bodyPr vert="horz" lIns="91440" tIns="91440" rIns="0" bIns="0" rtlCol="0" anchor="t">
            <a:noAutofit/>
          </a:bodyPr>
          <a:lstStyle/>
          <a:p>
            <a:r>
              <a:rPr lang="en-US" dirty="0"/>
              <a:t>Ma’am Saira Qamar</a:t>
            </a:r>
          </a:p>
          <a:p>
            <a:r>
              <a:rPr lang="en-US" dirty="0"/>
              <a:t>Sir Adil Majeed</a:t>
            </a:r>
          </a:p>
          <a:p>
            <a:r>
              <a:rPr lang="en-US" dirty="0"/>
              <a:t>Sir Shahbaz Hassan </a:t>
            </a:r>
          </a:p>
        </p:txBody>
      </p:sp>
    </p:spTree>
    <p:extLst>
      <p:ext uri="{BB962C8B-B14F-4D97-AF65-F5344CB8AC3E}">
        <p14:creationId xmlns:p14="http://schemas.microsoft.com/office/powerpoint/2010/main" val="814953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EC92-526E-8262-53B5-F0AF7F1E4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11C81-A4EA-16BC-B023-A1233E306AA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Transformer models (BERT, </a:t>
            </a:r>
            <a:r>
              <a:rPr lang="en-US" dirty="0" err="1"/>
              <a:t>DistilBERT</a:t>
            </a:r>
            <a:r>
              <a:rPr lang="en-US" dirty="0"/>
              <a:t>) are widely used for NLP classification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Moving from research to production requires optimal hardware-precision combinations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INT8 quantization is commonly recommended to reduce memory and increase speed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Problem: </a:t>
            </a:r>
            <a:r>
              <a:rPr lang="en-US" dirty="0"/>
              <a:t>Theory doesn't match reality — hardware specs, batch sizes, and quantization overhead impact performance unpredictably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Users lack empirical guidance on when/where INT8 actually improves performance on accessible hardware</a:t>
            </a:r>
            <a:endParaRPr lang="en-US" sz="1800" dirty="0"/>
          </a:p>
        </p:txBody>
      </p:sp>
      <p:pic>
        <p:nvPicPr>
          <p:cNvPr id="8" name="Picture Placeholder 7" descr="A close-up of a bridge">
            <a:extLst>
              <a:ext uri="{FF2B5EF4-FFF2-40B4-BE49-F238E27FC236}">
                <a16:creationId xmlns:a16="http://schemas.microsoft.com/office/drawing/2014/main" id="{EE0796FA-596D-37B0-2C89-6A56D8D93EE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4B0D0C0D-89F9-C314-0A74-E0433067F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85702" y="5061102"/>
            <a:ext cx="3179653" cy="1801715"/>
          </a:xfrm>
          <a:custGeom>
            <a:avLst/>
            <a:gdLst>
              <a:gd name="connsiteX0" fmla="*/ 2394161 w 4788322"/>
              <a:gd name="connsiteY0" fmla="*/ 0 h 2713249"/>
              <a:gd name="connsiteX1" fmla="*/ 4788322 w 4788322"/>
              <a:gd name="connsiteY1" fmla="*/ 2394161 h 2713249"/>
              <a:gd name="connsiteX2" fmla="*/ 4775962 w 4788322"/>
              <a:gd name="connsiteY2" fmla="*/ 2638950 h 2713249"/>
              <a:gd name="connsiteX3" fmla="*/ 4764622 w 4788322"/>
              <a:gd name="connsiteY3" fmla="*/ 2713249 h 2713249"/>
              <a:gd name="connsiteX4" fmla="*/ 23700 w 4788322"/>
              <a:gd name="connsiteY4" fmla="*/ 2713249 h 2713249"/>
              <a:gd name="connsiteX5" fmla="*/ 12361 w 4788322"/>
              <a:gd name="connsiteY5" fmla="*/ 2638950 h 2713249"/>
              <a:gd name="connsiteX6" fmla="*/ 0 w 4788322"/>
              <a:gd name="connsiteY6" fmla="*/ 2394161 h 2713249"/>
              <a:gd name="connsiteX7" fmla="*/ 2394161 w 4788322"/>
              <a:gd name="connsiteY7" fmla="*/ 0 h 2713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88322" h="2713249">
                <a:moveTo>
                  <a:pt x="2394161" y="0"/>
                </a:moveTo>
                <a:cubicBezTo>
                  <a:pt x="3716420" y="0"/>
                  <a:pt x="4788322" y="1071902"/>
                  <a:pt x="4788322" y="2394161"/>
                </a:cubicBezTo>
                <a:cubicBezTo>
                  <a:pt x="4788322" y="2476803"/>
                  <a:pt x="4784135" y="2558466"/>
                  <a:pt x="4775962" y="2638950"/>
                </a:cubicBezTo>
                <a:lnTo>
                  <a:pt x="4764622" y="2713249"/>
                </a:lnTo>
                <a:lnTo>
                  <a:pt x="23700" y="2713249"/>
                </a:lnTo>
                <a:lnTo>
                  <a:pt x="12361" y="2638950"/>
                </a:lnTo>
                <a:cubicBezTo>
                  <a:pt x="4187" y="2558466"/>
                  <a:pt x="0" y="2476803"/>
                  <a:pt x="0" y="2394161"/>
                </a:cubicBezTo>
                <a:cubicBezTo>
                  <a:pt x="0" y="1071902"/>
                  <a:pt x="1071902" y="0"/>
                  <a:pt x="2394161" y="0"/>
                </a:cubicBez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7770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C6431-B4D0-33C2-1027-4D1F887B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80"/>
            <a:ext cx="10690155" cy="1185545"/>
          </a:xfrm>
        </p:spPr>
        <p:txBody>
          <a:bodyPr/>
          <a:lstStyle/>
          <a:p>
            <a:r>
              <a:rPr lang="en-US" dirty="0"/>
              <a:t>Literature Review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4EBD8A5-249B-8A48-5139-71B7743B6C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084129"/>
              </p:ext>
            </p:extLst>
          </p:nvPr>
        </p:nvGraphicFramePr>
        <p:xfrm>
          <a:off x="548646" y="1493300"/>
          <a:ext cx="10616179" cy="524014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49418">
                  <a:extLst>
                    <a:ext uri="{9D8B030D-6E8A-4147-A177-3AD203B41FA5}">
                      <a16:colId xmlns:a16="http://schemas.microsoft.com/office/drawing/2014/main" val="1376856347"/>
                    </a:ext>
                  </a:extLst>
                </a:gridCol>
                <a:gridCol w="2624328">
                  <a:extLst>
                    <a:ext uri="{9D8B030D-6E8A-4147-A177-3AD203B41FA5}">
                      <a16:colId xmlns:a16="http://schemas.microsoft.com/office/drawing/2014/main" val="1335665949"/>
                    </a:ext>
                  </a:extLst>
                </a:gridCol>
                <a:gridCol w="2532888">
                  <a:extLst>
                    <a:ext uri="{9D8B030D-6E8A-4147-A177-3AD203B41FA5}">
                      <a16:colId xmlns:a16="http://schemas.microsoft.com/office/drawing/2014/main" val="4150970819"/>
                    </a:ext>
                  </a:extLst>
                </a:gridCol>
                <a:gridCol w="3209545">
                  <a:extLst>
                    <a:ext uri="{9D8B030D-6E8A-4147-A177-3AD203B41FA5}">
                      <a16:colId xmlns:a16="http://schemas.microsoft.com/office/drawing/2014/main" val="426198129"/>
                    </a:ext>
                  </a:extLst>
                </a:gridCol>
              </a:tblGrid>
              <a:tr h="44486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000" b="1" dirty="0">
                          <a:effectLst/>
                        </a:rPr>
                        <a:t>Reference</a:t>
                      </a:r>
                      <a:endParaRPr lang="en-US" b="1" dirty="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000" dirty="0">
                          <a:effectLst/>
                        </a:rPr>
                        <a:t>Core Contribution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000" dirty="0">
                          <a:effectLst/>
                        </a:rPr>
                        <a:t>Hardware / Deployment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000" dirty="0">
                          <a:effectLst/>
                        </a:rPr>
                        <a:t>Limitation Addressed by Your Paper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38653558"/>
                  </a:ext>
                </a:extLst>
              </a:tr>
              <a:tr h="114643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b="0" dirty="0">
                          <a:effectLst/>
                        </a:rPr>
                        <a:t>Vaswani et al. (2017) [3]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Introduced Transformer architecture</a:t>
                      </a:r>
                    </a:p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Enabled parallelized sequence modeling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NVIDIA P100s (Training focus)</a:t>
                      </a:r>
                    </a:p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Ignored inference deployment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Misses memory-bandwidth limits for small-batch inference</a:t>
                      </a:r>
                    </a:p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Theoretical FLOPs don't reflect real throughput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312503066"/>
                  </a:ext>
                </a:extLst>
              </a:tr>
              <a:tr h="159137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fr-FR" dirty="0">
                          <a:effectLst/>
                        </a:rPr>
                        <a:t>Zafrir et al. (2019) [4]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Symmetric INT8 quantization for BERT</a:t>
                      </a:r>
                    </a:p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Proved 8-bit inference feasibility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Single high-end GPU</a:t>
                      </a:r>
                    </a:p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Did not measure batch size effects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Lacks latency penalty analysis for small batches</a:t>
                      </a:r>
                    </a:p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Ignores mixed-precision outlier overhead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479070897"/>
                  </a:ext>
                </a:extLst>
              </a:tr>
              <a:tr h="159137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Gholami et al. (2021) [5]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Broad survey of quantization methods (PTQ, QAT, mixed-precision)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Broad hardware coverage</a:t>
                      </a:r>
                    </a:p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Abstract bandwidth constraints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Lacks empirical throughput vs. batch size crossover data</a:t>
                      </a:r>
                    </a:p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Misses outlier overhead vs. batch size interactions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557469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84098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2E511-58DB-E125-13A7-22AA8370F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192AF-7226-0C1E-D6A6-F96FE1207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80"/>
            <a:ext cx="10690155" cy="1185545"/>
          </a:xfrm>
        </p:spPr>
        <p:txBody>
          <a:bodyPr/>
          <a:lstStyle/>
          <a:p>
            <a:r>
              <a:rPr lang="en-US" dirty="0"/>
              <a:t>Literature Review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47CCDD4-2DD9-C0BF-3B1D-7D72D7C93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772296"/>
              </p:ext>
            </p:extLst>
          </p:nvPr>
        </p:nvGraphicFramePr>
        <p:xfrm>
          <a:off x="548646" y="1379389"/>
          <a:ext cx="10488161" cy="483717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622040">
                  <a:extLst>
                    <a:ext uri="{9D8B030D-6E8A-4147-A177-3AD203B41FA5}">
                      <a16:colId xmlns:a16="http://schemas.microsoft.com/office/drawing/2014/main" val="2893167835"/>
                    </a:ext>
                  </a:extLst>
                </a:gridCol>
                <a:gridCol w="2622040">
                  <a:extLst>
                    <a:ext uri="{9D8B030D-6E8A-4147-A177-3AD203B41FA5}">
                      <a16:colId xmlns:a16="http://schemas.microsoft.com/office/drawing/2014/main" val="3009980139"/>
                    </a:ext>
                  </a:extLst>
                </a:gridCol>
                <a:gridCol w="2460385">
                  <a:extLst>
                    <a:ext uri="{9D8B030D-6E8A-4147-A177-3AD203B41FA5}">
                      <a16:colId xmlns:a16="http://schemas.microsoft.com/office/drawing/2014/main" val="3924991517"/>
                    </a:ext>
                  </a:extLst>
                </a:gridCol>
                <a:gridCol w="2783696">
                  <a:extLst>
                    <a:ext uri="{9D8B030D-6E8A-4147-A177-3AD203B41FA5}">
                      <a16:colId xmlns:a16="http://schemas.microsoft.com/office/drawing/2014/main" val="2373712352"/>
                    </a:ext>
                  </a:extLst>
                </a:gridCol>
              </a:tblGrid>
              <a:tr h="68557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dirty="0">
                          <a:effectLst/>
                        </a:rPr>
                        <a:t>Reference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Core Contribution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dirty="0">
                          <a:effectLst/>
                        </a:rPr>
                        <a:t>Hardware / Deployment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Limitation Addressed by Your Paper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717681174"/>
                  </a:ext>
                </a:extLst>
              </a:tr>
              <a:tr h="196996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a-DK" dirty="0">
                          <a:effectLst/>
                        </a:rPr>
                        <a:t>Dettmers et al. (2022) [6]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Introduced LLM.int8()</a:t>
                      </a:r>
                    </a:p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Separated outliers (FP16) from the rest (INT8)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High-bandwidth datacenter GPUs</a:t>
                      </a:r>
                    </a:p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Evaluated large generative models only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Focuses on generative model memory/accuracy</a:t>
                      </a:r>
                    </a:p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Misses throughput costs for encoder-only inference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727667726"/>
                  </a:ext>
                </a:extLst>
              </a:tr>
              <a:tr h="218163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nb-NO" dirty="0">
                          <a:effectLst/>
                        </a:rPr>
                        <a:t>Sheng et al. (2023) [7]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Analyzed memory/compute tradeoffs</a:t>
                      </a:r>
                    </a:p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Proposed </a:t>
                      </a:r>
                      <a:r>
                        <a:rPr lang="en-US" dirty="0" err="1">
                          <a:effectLst/>
                        </a:rPr>
                        <a:t>FlexGen</a:t>
                      </a:r>
                      <a:r>
                        <a:rPr lang="en-US" dirty="0">
                          <a:effectLst/>
                        </a:rPr>
                        <a:t> for single-GPU offloading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High-end single-GPU setups</a:t>
                      </a:r>
                    </a:p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Autoregressive inference focus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Limited strictly to autoregressive decoding</a:t>
                      </a:r>
                    </a:p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Misses bandwidth characterization for encoder-only tasks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143257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2172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13840-7D4B-AD5A-7C3C-471FA925D8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78" y="1234440"/>
            <a:ext cx="8933690" cy="3169920"/>
          </a:xfrm>
        </p:spPr>
        <p:txBody>
          <a:bodyPr>
            <a:normAutofit/>
          </a:bodyPr>
          <a:lstStyle/>
          <a:p>
            <a:r>
              <a:rPr lang="en-US" dirty="0"/>
              <a:t>Research 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2A0CEC-CACB-0532-AFE6-323BFF6FD1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3647333">
            <a:off x="5428441" y="8477973"/>
            <a:ext cx="2497842" cy="54448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60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2CAA4-FFD0-6091-531D-4D1C732F5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4224529"/>
            <a:ext cx="8237034" cy="1986830"/>
          </a:xfrm>
        </p:spPr>
        <p:txBody>
          <a:bodyPr>
            <a:normAutofit/>
          </a:bodyPr>
          <a:lstStyle/>
          <a:p>
            <a:r>
              <a:rPr lang="en-US" sz="4800" dirty="0" err="1"/>
              <a:t>rEsearch</a:t>
            </a:r>
            <a:r>
              <a:rPr lang="en-US" sz="4800" dirty="0"/>
              <a:t> 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DC12A-4E27-F62F-2ED2-7823711D42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640077"/>
            <a:ext cx="10469880" cy="418795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Benchmark INT8 post-training quantization on accessible hardware (Kaggle GPUs, consumer CPU)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Measure latency, throughput, memory usage, and accuracy across 5 configurations Determine when INT8 improves vs degrades performance based on batch size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Compare memory bandwidth (HBM2 vs GDDR6) impact on throughput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Evaluate multi-GPU scaling behavior for encoder-only inference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Provide deployment guidance for researchers with limited compute budgets</a:t>
            </a:r>
          </a:p>
        </p:txBody>
      </p:sp>
    </p:spTree>
    <p:extLst>
      <p:ext uri="{BB962C8B-B14F-4D97-AF65-F5344CB8AC3E}">
        <p14:creationId xmlns:p14="http://schemas.microsoft.com/office/powerpoint/2010/main" val="246294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BE1B3-474F-D110-BAD7-4D78EBC8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Proposed</a:t>
            </a:r>
            <a:br>
              <a:rPr lang="en-US" dirty="0"/>
            </a:br>
            <a:r>
              <a:rPr lang="en-US"/>
              <a:t>solution</a:t>
            </a:r>
            <a:endParaRPr lang="en-US" dirty="0"/>
          </a:p>
        </p:txBody>
      </p:sp>
      <p:pic>
        <p:nvPicPr>
          <p:cNvPr id="8" name="Picture Placeholder 7" descr="A close-up of a building">
            <a:extLst>
              <a:ext uri="{FF2B5EF4-FFF2-40B4-BE49-F238E27FC236}">
                <a16:creationId xmlns:a16="http://schemas.microsoft.com/office/drawing/2014/main" id="{06B91585-3AF9-DD3A-DC39-2BCFC2367D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8647" y="2662000"/>
            <a:ext cx="3871623" cy="3551762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9A9125-83DF-A70A-A024-4E849963BA4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91440" tIns="0" rIns="0" bIns="0" rtlCol="0" anchor="t">
            <a:noAutofit/>
          </a:bodyPr>
          <a:lstStyle/>
          <a:p>
            <a:r>
              <a:rPr lang="en-US" sz="2000" b="1" dirty="0"/>
              <a:t>Models: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BERT-base (110M params, 12 layers) and </a:t>
            </a:r>
            <a:r>
              <a:rPr lang="en-US" sz="1800" dirty="0" err="1"/>
              <a:t>DistilBERT</a:t>
            </a:r>
            <a:r>
              <a:rPr lang="en-US" sz="1800" dirty="0"/>
              <a:t> (66M params, 6 layers)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Fine-tuned on GLUE SST-2 sentiment classification</a:t>
            </a:r>
          </a:p>
          <a:p>
            <a:endParaRPr lang="en-US" sz="1800" b="1" dirty="0"/>
          </a:p>
          <a:p>
            <a:r>
              <a:rPr lang="en-US" sz="2000" b="1" dirty="0"/>
              <a:t>Hardware Tested: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AMD Ryzen 5 5600 CPU (1, 6, 12 threads)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 NVIDIA Tesla P100 GPU (732 GB/s HBM2)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 NVIDIA Tesla T4 GPU (300 GB/s GDDR6)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Dual T4 GPUs (</a:t>
            </a:r>
            <a:r>
              <a:rPr lang="en-US" sz="1800" dirty="0" err="1"/>
              <a:t>DataParallel</a:t>
            </a:r>
            <a:r>
              <a:rPr lang="en-US" sz="1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59390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9DE6D-55B3-DF4A-C5BB-0BFC35A38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773AC-1192-E34A-CA05-5D82118AF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4975" y="844061"/>
            <a:ext cx="3871623" cy="1602540"/>
          </a:xfrm>
        </p:spPr>
        <p:txBody>
          <a:bodyPr/>
          <a:lstStyle/>
          <a:p>
            <a:r>
              <a:rPr lang="en-US" dirty="0"/>
              <a:t>Proposed</a:t>
            </a:r>
            <a:br>
              <a:rPr lang="en-US" dirty="0"/>
            </a:br>
            <a:r>
              <a:rPr lang="en-US" dirty="0"/>
              <a:t>solution</a:t>
            </a:r>
          </a:p>
        </p:txBody>
      </p:sp>
      <p:pic>
        <p:nvPicPr>
          <p:cNvPr id="8" name="Picture Placeholder 7" descr="A close-up of a building">
            <a:extLst>
              <a:ext uri="{FF2B5EF4-FFF2-40B4-BE49-F238E27FC236}">
                <a16:creationId xmlns:a16="http://schemas.microsoft.com/office/drawing/2014/main" id="{4EFA1DB8-05CB-C046-B2CA-30972474E1A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53618" y="2361199"/>
            <a:ext cx="3871623" cy="3551762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E6FF4-BFF3-1E85-E31F-4D379180DE7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5402" y="844061"/>
            <a:ext cx="6249382" cy="5573685"/>
          </a:xfrm>
        </p:spPr>
        <p:txBody>
          <a:bodyPr vert="horz" lIns="91440" tIns="0" rIns="0" bIns="0" rtlCol="0" anchor="t">
            <a:noAutofit/>
          </a:bodyPr>
          <a:lstStyle/>
          <a:p>
            <a:r>
              <a:rPr lang="en-US" sz="2000" b="1" dirty="0"/>
              <a:t>Quantization Methods: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GPU (T4): </a:t>
            </a:r>
            <a:r>
              <a:rPr lang="en-US" sz="1800" dirty="0" err="1"/>
              <a:t>bitsandbytes</a:t>
            </a:r>
            <a:r>
              <a:rPr lang="en-US" sz="1800" dirty="0"/>
              <a:t> LLM.int8() with outlier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GPU (P100): </a:t>
            </a:r>
            <a:r>
              <a:rPr lang="en-US" sz="1800" dirty="0"/>
              <a:t>Fallback to weight-only quantization (no INT8 compute)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CPU:</a:t>
            </a:r>
            <a:r>
              <a:rPr lang="en-US" sz="1800" dirty="0"/>
              <a:t> </a:t>
            </a:r>
            <a:r>
              <a:rPr lang="en-US" sz="1800" dirty="0" err="1"/>
              <a:t>PyTorch</a:t>
            </a:r>
            <a:r>
              <a:rPr lang="en-US" sz="1800" dirty="0"/>
              <a:t> dynamic quantization via FBGEMM backend</a:t>
            </a:r>
          </a:p>
          <a:p>
            <a:r>
              <a:rPr lang="en-US" sz="2000" b="1" dirty="0"/>
              <a:t>Measurement Protocols: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b="1" dirty="0"/>
              <a:t>30 iterations + 5 warmup </a:t>
            </a:r>
            <a:r>
              <a:rPr lang="en-US" sz="1800" dirty="0"/>
              <a:t>runs per configuration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b="1" dirty="0"/>
              <a:t>Batch sizes: </a:t>
            </a:r>
            <a:r>
              <a:rPr lang="en-US" sz="1800" dirty="0"/>
              <a:t>1, 8, 16, 32, 64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b="1" dirty="0"/>
              <a:t>Metrics:</a:t>
            </a:r>
            <a:r>
              <a:rPr lang="en-US" sz="1800" dirty="0"/>
              <a:t> latency, throughput, peak memory, GLUE SST-2 accuracy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Fixed </a:t>
            </a:r>
            <a:r>
              <a:rPr lang="en-US" sz="1800" b="1" dirty="0"/>
              <a:t>seed (42)</a:t>
            </a:r>
            <a:r>
              <a:rPr lang="en-US" sz="1800" dirty="0"/>
              <a:t> for reproducibility</a:t>
            </a:r>
          </a:p>
        </p:txBody>
      </p:sp>
    </p:spTree>
    <p:extLst>
      <p:ext uri="{BB962C8B-B14F-4D97-AF65-F5344CB8AC3E}">
        <p14:creationId xmlns:p14="http://schemas.microsoft.com/office/powerpoint/2010/main" val="514678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432528FD-365B-23B2-C03B-1917A7315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640077"/>
            <a:ext cx="10433304" cy="4882899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Base Paper: Dettmers et al., "LLM.int8(): 8-bit Matrix Multiplication for Transformers at Scale" (</a:t>
            </a:r>
            <a:r>
              <a:rPr lang="en-US" dirty="0" err="1"/>
              <a:t>NeurIPS</a:t>
            </a:r>
            <a:r>
              <a:rPr lang="en-US" dirty="0"/>
              <a:t> 2022)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Introduces mixed-precision decomposition with outlier detection for transformer quantization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Preserves high-magnitude activations in FP16, quantizes remaining weights to INT8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Gap identified: Prior work focuses on datacenter GPUs and generative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Missing: Encoder-only models on edge-tier hardware (T4, P100) across real-world batch sizes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No controlled study on memory bandwidth vs compute capability tradeoffs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47DCE8-838D-B53F-72A2-8EA664D5D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5522976"/>
            <a:ext cx="7772400" cy="679091"/>
          </a:xfrm>
        </p:spPr>
        <p:txBody>
          <a:bodyPr>
            <a:normAutofit/>
          </a:bodyPr>
          <a:lstStyle/>
          <a:p>
            <a:r>
              <a:rPr lang="en-US" dirty="0"/>
              <a:t>Challenges</a:t>
            </a:r>
          </a:p>
        </p:txBody>
      </p:sp>
    </p:spTree>
    <p:extLst>
      <p:ext uri="{BB962C8B-B14F-4D97-AF65-F5344CB8AC3E}">
        <p14:creationId xmlns:p14="http://schemas.microsoft.com/office/powerpoint/2010/main" val="1065396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6" descr="A close-up of a white wall">
            <a:extLst>
              <a:ext uri="{FF2B5EF4-FFF2-40B4-BE49-F238E27FC236}">
                <a16:creationId xmlns:a16="http://schemas.microsoft.com/office/drawing/2014/main" id="{445EE0DA-95A3-ACDE-47ED-89DF5655417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5416563" y="3482440"/>
            <a:ext cx="392656" cy="451977"/>
          </a:xfrm>
          <a:custGeom>
            <a:avLst/>
            <a:gdLst>
              <a:gd name="connsiteX0" fmla="*/ 0 w 4089921"/>
              <a:gd name="connsiteY0" fmla="*/ 0 h 4639206"/>
              <a:gd name="connsiteX1" fmla="*/ 3216644 w 4089921"/>
              <a:gd name="connsiteY1" fmla="*/ 0 h 4639206"/>
              <a:gd name="connsiteX2" fmla="*/ 3308243 w 4089921"/>
              <a:gd name="connsiteY2" fmla="*/ 83250 h 4639206"/>
              <a:gd name="connsiteX3" fmla="*/ 4089921 w 4089921"/>
              <a:gd name="connsiteY3" fmla="*/ 1970389 h 4639206"/>
              <a:gd name="connsiteX4" fmla="*/ 3308243 w 4089921"/>
              <a:gd name="connsiteY4" fmla="*/ 3857528 h 4639206"/>
              <a:gd name="connsiteX5" fmla="*/ 3279358 w 4089921"/>
              <a:gd name="connsiteY5" fmla="*/ 3883780 h 4639206"/>
              <a:gd name="connsiteX6" fmla="*/ 3254520 w 4089921"/>
              <a:gd name="connsiteY6" fmla="*/ 3853677 h 4639206"/>
              <a:gd name="connsiteX7" fmla="*/ 2797624 w 4089921"/>
              <a:gd name="connsiteY7" fmla="*/ 3664424 h 4639206"/>
              <a:gd name="connsiteX8" fmla="*/ 2151475 w 4089921"/>
              <a:gd name="connsiteY8" fmla="*/ 4310573 h 4639206"/>
              <a:gd name="connsiteX9" fmla="*/ 2164603 w 4089921"/>
              <a:gd name="connsiteY9" fmla="*/ 4440795 h 4639206"/>
              <a:gd name="connsiteX10" fmla="*/ 2190853 w 4089921"/>
              <a:gd name="connsiteY10" fmla="*/ 4525361 h 4639206"/>
              <a:gd name="connsiteX11" fmla="*/ 1958964 w 4089921"/>
              <a:gd name="connsiteY11" fmla="*/ 4584985 h 4639206"/>
              <a:gd name="connsiteX12" fmla="*/ 1421104 w 4089921"/>
              <a:gd name="connsiteY12" fmla="*/ 4639206 h 4639206"/>
              <a:gd name="connsiteX13" fmla="*/ 148987 w 4089921"/>
              <a:gd name="connsiteY13" fmla="*/ 4317094 h 4639206"/>
              <a:gd name="connsiteX14" fmla="*/ 0 w 4089921"/>
              <a:gd name="connsiteY14" fmla="*/ 4226582 h 4639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89921" h="4639206">
                <a:moveTo>
                  <a:pt x="0" y="0"/>
                </a:moveTo>
                <a:lnTo>
                  <a:pt x="3216644" y="0"/>
                </a:lnTo>
                <a:lnTo>
                  <a:pt x="3308243" y="83250"/>
                </a:lnTo>
                <a:cubicBezTo>
                  <a:pt x="3791204" y="566211"/>
                  <a:pt x="4089921" y="1233416"/>
                  <a:pt x="4089921" y="1970389"/>
                </a:cubicBezTo>
                <a:cubicBezTo>
                  <a:pt x="4089921" y="2707363"/>
                  <a:pt x="3791204" y="3374567"/>
                  <a:pt x="3308243" y="3857528"/>
                </a:cubicBezTo>
                <a:lnTo>
                  <a:pt x="3279358" y="3883780"/>
                </a:lnTo>
                <a:lnTo>
                  <a:pt x="3254520" y="3853677"/>
                </a:lnTo>
                <a:cubicBezTo>
                  <a:pt x="3137590" y="3736747"/>
                  <a:pt x="2976053" y="3664424"/>
                  <a:pt x="2797624" y="3664424"/>
                </a:cubicBezTo>
                <a:cubicBezTo>
                  <a:pt x="2440766" y="3664424"/>
                  <a:pt x="2151475" y="3953715"/>
                  <a:pt x="2151475" y="4310573"/>
                </a:cubicBezTo>
                <a:cubicBezTo>
                  <a:pt x="2151475" y="4355180"/>
                  <a:pt x="2155995" y="4398732"/>
                  <a:pt x="2164603" y="4440795"/>
                </a:cubicBezTo>
                <a:lnTo>
                  <a:pt x="2190853" y="4525361"/>
                </a:lnTo>
                <a:lnTo>
                  <a:pt x="1958964" y="4584985"/>
                </a:lnTo>
                <a:cubicBezTo>
                  <a:pt x="1785230" y="4620536"/>
                  <a:pt x="1605347" y="4639206"/>
                  <a:pt x="1421104" y="4639206"/>
                </a:cubicBezTo>
                <a:cubicBezTo>
                  <a:pt x="960496" y="4639206"/>
                  <a:pt x="527141" y="4522520"/>
                  <a:pt x="148987" y="4317094"/>
                </a:cubicBezTo>
                <a:lnTo>
                  <a:pt x="0" y="4226582"/>
                </a:lnTo>
                <a:close/>
              </a:path>
            </a:pathLst>
          </a:cu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903CE64-FEEF-0B9E-7F46-D575F81CBA0D}"/>
              </a:ext>
            </a:extLst>
          </p:cNvPr>
          <p:cNvSpPr/>
          <p:nvPr/>
        </p:nvSpPr>
        <p:spPr>
          <a:xfrm>
            <a:off x="4754056" y="2546872"/>
            <a:ext cx="5239512" cy="27157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289740-F092-E36F-E136-F50AE2612661}"/>
              </a:ext>
            </a:extLst>
          </p:cNvPr>
          <p:cNvSpPr/>
          <p:nvPr/>
        </p:nvSpPr>
        <p:spPr>
          <a:xfrm>
            <a:off x="0" y="-2"/>
            <a:ext cx="5990432" cy="197510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21BF03-54AE-6210-0763-C6649F301194}"/>
              </a:ext>
            </a:extLst>
          </p:cNvPr>
          <p:cNvSpPr/>
          <p:nvPr/>
        </p:nvSpPr>
        <p:spPr>
          <a:xfrm>
            <a:off x="0" y="1975104"/>
            <a:ext cx="4982656" cy="50292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20B7E4-87D1-9DF8-2BCD-A68172322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630" y="313048"/>
            <a:ext cx="10285604" cy="1403873"/>
          </a:xfrm>
        </p:spPr>
        <p:txBody>
          <a:bodyPr/>
          <a:lstStyle/>
          <a:p>
            <a:r>
              <a:rPr lang="en-US" dirty="0"/>
              <a:t>Changes from</a:t>
            </a:r>
            <a:br>
              <a:rPr lang="en-US" dirty="0"/>
            </a:br>
            <a:r>
              <a:rPr lang="en-US" dirty="0"/>
              <a:t>baseline paper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219047-1F62-2428-464F-F9BE9A699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7157" y="2043953"/>
            <a:ext cx="4745735" cy="4256263"/>
          </a:xfrm>
        </p:spPr>
        <p:txBody>
          <a:bodyPr/>
          <a:lstStyle/>
          <a:p>
            <a:r>
              <a:rPr lang="en-US" b="1" dirty="0"/>
              <a:t>P100 (HBM2) vs T4 (GDDR6) — FP32: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P100 outperforms T4 by 1.76× (BERT) to 1.96× (</a:t>
            </a:r>
            <a:r>
              <a:rPr lang="en-US" dirty="0" err="1"/>
              <a:t>DistilBERT</a:t>
            </a:r>
            <a:r>
              <a:rPr lang="en-US" dirty="0"/>
              <a:t>) at batch 64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bandwidth (2.44× advantage) predicts throughput better than peak TOPs</a:t>
            </a:r>
          </a:p>
          <a:p>
            <a:r>
              <a:rPr lang="en-US" b="1" dirty="0"/>
              <a:t>T4 INT8 vs FP32: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Batch 1: INT8 is 4.8× slower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Batch 16+: INT8 begins outperforming FP32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Batch 64: INT8 achieves 1.38× speedup with 2.29× memory savings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2F54D4F-0B9A-56CD-D5F3-BB53C15CC277}"/>
              </a:ext>
            </a:extLst>
          </p:cNvPr>
          <p:cNvSpPr txBox="1">
            <a:spLocks/>
          </p:cNvSpPr>
          <p:nvPr/>
        </p:nvSpPr>
        <p:spPr>
          <a:xfrm>
            <a:off x="5990432" y="2043952"/>
            <a:ext cx="4745735" cy="4256263"/>
          </a:xfrm>
          <a:prstGeom prst="rect">
            <a:avLst/>
          </a:prstGeom>
        </p:spPr>
        <p:txBody>
          <a:bodyPr vert="horz" lIns="91440" tIns="9144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0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CPU INT8 vs FP32: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 </a:t>
            </a:r>
            <a:r>
              <a:rPr lang="en-US" dirty="0"/>
              <a:t>Consistent 1.65×–1.84× speedup at 6 threads across all batch sizes.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Accuracy drop: 0.8–1.2 percentage points</a:t>
            </a:r>
          </a:p>
          <a:p>
            <a:r>
              <a:rPr lang="en-US" b="1" dirty="0"/>
              <a:t>Dual T4 vs Single P100: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DataParallel</a:t>
            </a:r>
            <a:r>
              <a:rPr lang="en-US" dirty="0"/>
              <a:t> degrades throughput at batch &lt;16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Single P100 matches/exceeds dual T4 at all batch sizes (BERT-base)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40878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D77019-DA16-CD65-7C2E-8EEDD9F5C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832" y="649224"/>
            <a:ext cx="8037576" cy="4133626"/>
          </a:xfrm>
        </p:spPr>
        <p:txBody>
          <a:bodyPr/>
          <a:lstStyle/>
          <a:p>
            <a:r>
              <a:rPr lang="en-US" sz="11500" dirty="0"/>
              <a:t>Graphs</a:t>
            </a:r>
          </a:p>
        </p:txBody>
      </p:sp>
      <p:pic>
        <p:nvPicPr>
          <p:cNvPr id="7" name="Picture Placeholder 6" descr="A close-up of a white wall">
            <a:extLst>
              <a:ext uri="{FF2B5EF4-FFF2-40B4-BE49-F238E27FC236}">
                <a16:creationId xmlns:a16="http://schemas.microsoft.com/office/drawing/2014/main" id="{7CA5E22B-0229-FF1B-FEB9-2A16D039B7F6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4089921" cy="4639206"/>
          </a:xfrm>
        </p:spPr>
      </p:pic>
    </p:spTree>
    <p:extLst>
      <p:ext uri="{BB962C8B-B14F-4D97-AF65-F5344CB8AC3E}">
        <p14:creationId xmlns:p14="http://schemas.microsoft.com/office/powerpoint/2010/main" val="2895699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AE2A7C7-85B5-E7C7-27FE-DDE9F95141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6591" y="528557"/>
            <a:ext cx="6898818" cy="580088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CC49B7A-A005-17B7-9A69-9E9666CB4E8D}"/>
              </a:ext>
            </a:extLst>
          </p:cNvPr>
          <p:cNvSpPr/>
          <p:nvPr/>
        </p:nvSpPr>
        <p:spPr>
          <a:xfrm>
            <a:off x="4398264" y="528557"/>
            <a:ext cx="557784" cy="24868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64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7818D-DEE5-CB3C-7047-7267386D4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A72224-3001-1CA2-FDB7-343AA3D0CB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6003" y="654190"/>
            <a:ext cx="6599994" cy="554961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3F10545-D060-23D3-5A9B-ECB24B8002E2}"/>
              </a:ext>
            </a:extLst>
          </p:cNvPr>
          <p:cNvSpPr/>
          <p:nvPr/>
        </p:nvSpPr>
        <p:spPr>
          <a:xfrm>
            <a:off x="4672584" y="695732"/>
            <a:ext cx="557784" cy="24868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049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C9FA3-7B2C-DD47-D6BF-6EBD9E881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684ECB-8026-B88D-C84E-89752DF35E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843" y="805811"/>
            <a:ext cx="7076314" cy="524637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8114027-25B1-2407-89A3-5A04758DF3FA}"/>
              </a:ext>
            </a:extLst>
          </p:cNvPr>
          <p:cNvSpPr/>
          <p:nvPr/>
        </p:nvSpPr>
        <p:spPr>
          <a:xfrm>
            <a:off x="3977640" y="805811"/>
            <a:ext cx="557784" cy="24868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221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C0BB8-3554-D20D-E594-C06489030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16D064-B930-7CB6-8ABC-F8E8DAB4AE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2472" y="727858"/>
            <a:ext cx="6927056" cy="54022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00A5E5F-A5C7-670B-D6FF-42D6B3BBF19F}"/>
              </a:ext>
            </a:extLst>
          </p:cNvPr>
          <p:cNvSpPr/>
          <p:nvPr/>
        </p:nvSpPr>
        <p:spPr>
          <a:xfrm>
            <a:off x="4443984" y="727858"/>
            <a:ext cx="557784" cy="24868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868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1A74A-7E55-4A25-8886-12D65A4B7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EF1F32-C1AC-7882-0BB6-03F39A2E50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202" y="1021308"/>
            <a:ext cx="8475595" cy="48153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7891AA1-C168-98ED-3FF2-EE68D6D07C6D}"/>
              </a:ext>
            </a:extLst>
          </p:cNvPr>
          <p:cNvSpPr/>
          <p:nvPr/>
        </p:nvSpPr>
        <p:spPr>
          <a:xfrm>
            <a:off x="3264408" y="1021308"/>
            <a:ext cx="676656" cy="35029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361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2D963-094C-C54D-01E1-EF8E559C3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537265-F88F-E8BB-37E4-765DD7CFFD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950" y="1219200"/>
            <a:ext cx="9944100" cy="44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C6435E1-CB84-BD35-F9D0-50C23ACAACB2}"/>
              </a:ext>
            </a:extLst>
          </p:cNvPr>
          <p:cNvSpPr/>
          <p:nvPr/>
        </p:nvSpPr>
        <p:spPr>
          <a:xfrm>
            <a:off x="4206240" y="1219200"/>
            <a:ext cx="557784" cy="24868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580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2EDB7-1CF5-1DEE-D704-3AD1E181C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8" y="640078"/>
            <a:ext cx="10690154" cy="933889"/>
          </a:xfrm>
        </p:spPr>
        <p:txBody>
          <a:bodyPr/>
          <a:lstStyle/>
          <a:p>
            <a:r>
              <a:rPr lang="en-US" dirty="0"/>
              <a:t>Conclusion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7F696C2-405D-A5F2-64C7-26CCF1A95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878462"/>
              </p:ext>
            </p:extLst>
          </p:nvPr>
        </p:nvGraphicFramePr>
        <p:xfrm>
          <a:off x="548648" y="1573967"/>
          <a:ext cx="10690152" cy="464260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35975">
                  <a:extLst>
                    <a:ext uri="{9D8B030D-6E8A-4147-A177-3AD203B41FA5}">
                      <a16:colId xmlns:a16="http://schemas.microsoft.com/office/drawing/2014/main" val="272754559"/>
                    </a:ext>
                  </a:extLst>
                </a:gridCol>
                <a:gridCol w="1192655">
                  <a:extLst>
                    <a:ext uri="{9D8B030D-6E8A-4147-A177-3AD203B41FA5}">
                      <a16:colId xmlns:a16="http://schemas.microsoft.com/office/drawing/2014/main" val="413604181"/>
                    </a:ext>
                  </a:extLst>
                </a:gridCol>
                <a:gridCol w="736848">
                  <a:extLst>
                    <a:ext uri="{9D8B030D-6E8A-4147-A177-3AD203B41FA5}">
                      <a16:colId xmlns:a16="http://schemas.microsoft.com/office/drawing/2014/main" val="2748625981"/>
                    </a:ext>
                  </a:extLst>
                </a:gridCol>
                <a:gridCol w="1440632">
                  <a:extLst>
                    <a:ext uri="{9D8B030D-6E8A-4147-A177-3AD203B41FA5}">
                      <a16:colId xmlns:a16="http://schemas.microsoft.com/office/drawing/2014/main" val="3518746127"/>
                    </a:ext>
                  </a:extLst>
                </a:gridCol>
                <a:gridCol w="1780716">
                  <a:extLst>
                    <a:ext uri="{9D8B030D-6E8A-4147-A177-3AD203B41FA5}">
                      <a16:colId xmlns:a16="http://schemas.microsoft.com/office/drawing/2014/main" val="470128366"/>
                    </a:ext>
                  </a:extLst>
                </a:gridCol>
                <a:gridCol w="802975">
                  <a:extLst>
                    <a:ext uri="{9D8B030D-6E8A-4147-A177-3AD203B41FA5}">
                      <a16:colId xmlns:a16="http://schemas.microsoft.com/office/drawing/2014/main" val="2682467217"/>
                    </a:ext>
                  </a:extLst>
                </a:gridCol>
                <a:gridCol w="1672078">
                  <a:extLst>
                    <a:ext uri="{9D8B030D-6E8A-4147-A177-3AD203B41FA5}">
                      <a16:colId xmlns:a16="http://schemas.microsoft.com/office/drawing/2014/main" val="2747415192"/>
                    </a:ext>
                  </a:extLst>
                </a:gridCol>
                <a:gridCol w="1928273">
                  <a:extLst>
                    <a:ext uri="{9D8B030D-6E8A-4147-A177-3AD203B41FA5}">
                      <a16:colId xmlns:a16="http://schemas.microsoft.com/office/drawing/2014/main" val="262745071"/>
                    </a:ext>
                  </a:extLst>
                </a:gridCol>
              </a:tblGrid>
              <a:tr h="53183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Hardware</a:t>
                      </a:r>
                      <a:endParaRPr lang="en-US" sz="1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63500" marB="635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Model</a:t>
                      </a:r>
                      <a:endParaRPr lang="en-US" sz="1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63500" marB="635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Prec.</a:t>
                      </a:r>
                      <a:endParaRPr lang="en-US" sz="1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63500" marB="635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Latency (</a:t>
                      </a:r>
                      <a:r>
                        <a:rPr lang="en-US" sz="1000" b="1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ms</a:t>
                      </a:r>
                      <a:r>
                        <a:rPr lang="en-US" sz="10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)</a:t>
                      </a:r>
                      <a:endParaRPr lang="en-US" sz="1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63500" marB="635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Throughput (s/s)</a:t>
                      </a:r>
                      <a:endParaRPr lang="en-US" sz="1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63500" marB="635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Batch</a:t>
                      </a:r>
                      <a:endParaRPr lang="en-US" sz="1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63500" marB="635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Peak Mem (MB)</a:t>
                      </a:r>
                      <a:endParaRPr lang="en-US" sz="1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63500" marB="635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Accuracy</a:t>
                      </a:r>
                      <a:endParaRPr lang="en-US" sz="1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63500" marB="63500" anchor="ctr"/>
                </a:tc>
                <a:extLst>
                  <a:ext uri="{0D108BD9-81ED-4DB2-BD59-A6C34878D82A}">
                    <a16:rowId xmlns:a16="http://schemas.microsoft.com/office/drawing/2014/main" val="40321221"/>
                  </a:ext>
                </a:extLst>
              </a:tr>
              <a:tr h="45675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P100 x1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BERT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FP32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114.58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279.29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32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550.81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93.4%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30716462"/>
                  </a:ext>
                </a:extLst>
              </a:tr>
              <a:tr h="45675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T4 x1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BERT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FP32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180.29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177.49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32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560.42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93.4%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438912166"/>
                  </a:ext>
                </a:extLst>
              </a:tr>
              <a:tr h="45675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T4 x1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BERT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INT8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153.46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208.53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32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343.36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93.2%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813703918"/>
                  </a:ext>
                </a:extLst>
              </a:tr>
              <a:tr h="45675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T4 x2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BERT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FP32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128.80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248.44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32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503.30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93.4%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461859730"/>
                  </a:ext>
                </a:extLst>
              </a:tr>
              <a:tr h="45675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CPU 6T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BERT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FP32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1648.11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19.42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32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N/A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93.4%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332286503"/>
                  </a:ext>
                </a:extLst>
              </a:tr>
              <a:tr h="45675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CPU 6T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BERT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INT8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1064.74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30.05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32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N/A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92.2%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082140617"/>
                  </a:ext>
                </a:extLst>
              </a:tr>
              <a:tr h="45675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P100 x1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DistilBERT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FP32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57.66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555.02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32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388.56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91.2%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47800054"/>
                  </a:ext>
                </a:extLst>
              </a:tr>
              <a:tr h="45675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T4 x1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DistilBERT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INT8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78.94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405.35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32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301.95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91.4%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649467368"/>
                  </a:ext>
                </a:extLst>
              </a:tr>
              <a:tr h="45675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CPU 6T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DistilBERT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INT8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493.82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64.80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32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N/A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90.4%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38987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57911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67BA929-699D-C849-B9FE-E2561271E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8" y="640079"/>
            <a:ext cx="4056192" cy="3737921"/>
          </a:xfrm>
        </p:spPr>
        <p:txBody>
          <a:bodyPr/>
          <a:lstStyle/>
          <a:p>
            <a:r>
              <a:rPr lang="en-US" dirty="0"/>
              <a:t>Q&amp;A</a:t>
            </a:r>
          </a:p>
        </p:txBody>
      </p:sp>
      <p:pic>
        <p:nvPicPr>
          <p:cNvPr id="8" name="Picture Placeholder 7" descr="A person walking on a crosswalk">
            <a:extLst>
              <a:ext uri="{FF2B5EF4-FFF2-40B4-BE49-F238E27FC236}">
                <a16:creationId xmlns:a16="http://schemas.microsoft.com/office/drawing/2014/main" id="{595C53C1-B9AF-460C-5ADF-5F9498571BF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88802" y="0"/>
            <a:ext cx="6619138" cy="6858000"/>
          </a:xfrm>
        </p:spPr>
      </p:pic>
    </p:spTree>
    <p:extLst>
      <p:ext uri="{BB962C8B-B14F-4D97-AF65-F5344CB8AC3E}">
        <p14:creationId xmlns:p14="http://schemas.microsoft.com/office/powerpoint/2010/main" val="3561074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light_modernist">
  <a:themeElements>
    <a:clrScheme name="Custom 8">
      <a:dk1>
        <a:srgbClr val="36393B"/>
      </a:dk1>
      <a:lt1>
        <a:srgbClr val="FFFFFF"/>
      </a:lt1>
      <a:dk2>
        <a:srgbClr val="4D62EF"/>
      </a:dk2>
      <a:lt2>
        <a:srgbClr val="E7E4E6"/>
      </a:lt2>
      <a:accent1>
        <a:srgbClr val="3AEFCC"/>
      </a:accent1>
      <a:accent2>
        <a:srgbClr val="62D382"/>
      </a:accent2>
      <a:accent3>
        <a:srgbClr val="FDED60"/>
      </a:accent3>
      <a:accent4>
        <a:srgbClr val="FD4C00"/>
      </a:accent4>
      <a:accent5>
        <a:srgbClr val="FE2701"/>
      </a:accent5>
      <a:accent6>
        <a:srgbClr val="CA54FB"/>
      </a:accent6>
      <a:hlink>
        <a:srgbClr val="4D62EF"/>
      </a:hlink>
      <a:folHlink>
        <a:srgbClr val="FC4C00"/>
      </a:folHlink>
    </a:clrScheme>
    <a:fontScheme name="Custom 19">
      <a:majorFont>
        <a:latin typeface="Arial Black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ght modernist presentation_win32_SD_V8" id="{DD9F3DBC-97DB-4389-91E3-8FAD01D677DF}" vid="{B81B0F28-B8BA-42F4-B70F-6899486E522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BE5C6AC-AECE-4EBC-9FCA-F0C5028CCA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785538A-412A-48D6-AE25-5C3BDF9718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9E7139E-B40C-4943-9610-F20CE66C72C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Words>894</Words>
  <Application>Microsoft Office PowerPoint</Application>
  <PresentationFormat>Widescreen</PresentationFormat>
  <Paragraphs>189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 Black</vt:lpstr>
      <vt:lpstr>Avenir Next LT Pro Light</vt:lpstr>
      <vt:lpstr>Calibri</vt:lpstr>
      <vt:lpstr>light_modernist</vt:lpstr>
      <vt:lpstr>cPU vs gpu on quantized transformer inference</vt:lpstr>
      <vt:lpstr>Presented to</vt:lpstr>
      <vt:lpstr>Introduction</vt:lpstr>
      <vt:lpstr>Literature Review</vt:lpstr>
      <vt:lpstr>Literature Review</vt:lpstr>
      <vt:lpstr>Research objectives</vt:lpstr>
      <vt:lpstr>rEsearch objectives</vt:lpstr>
      <vt:lpstr>Proposed solution</vt:lpstr>
      <vt:lpstr>Proposed solution</vt:lpstr>
      <vt:lpstr>Challenges</vt:lpstr>
      <vt:lpstr>Changes from baseline paper</vt:lpstr>
      <vt:lpstr>Graphs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 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Mnb</dc:creator>
  <cp:lastModifiedBy>Mnb</cp:lastModifiedBy>
  <cp:revision>63</cp:revision>
  <dcterms:created xsi:type="dcterms:W3CDTF">2026-05-03T17:29:16Z</dcterms:created>
  <dcterms:modified xsi:type="dcterms:W3CDTF">2026-05-03T22:29:52Z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